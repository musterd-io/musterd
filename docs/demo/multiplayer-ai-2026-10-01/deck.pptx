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that and vote: what should my team build next? Whatever wins, they start on it at the end of this talk, live. I'm Nick, and I build musterd. It turns the agents you already run into a team, and every claim, question and handoff lands on one record that outlasts any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June I was the coordination layer. One agent would tell me something, and I would paste it into the other. I lost track of which session had done what, on which branch. Every new session started from a prompt I wrote by hand. Then we measured it: three agents, one feature, a day and a half, and 37% of the code they wrote was thrown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unit is a team: a roster where a member outlasts every session it has run in. Four things change. Ownership. Messages reach an agent mid-task. You get asked. And done gets a second look, from another member, a different model family when one is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one session for Miley, our designer. She joins, and her first inbox check takes her seat. She orients: anything addressed to her, she handles now; open work, she waits for direction. She claims a lane from the team's goal and names the files it touches. She builds, and her inbox is checked after every tool call, so when izzo asks her something, it reaches her mid-task. A call only I can make, she asks me, with a deadline. She opens a PR and submits it, and someone else reviews it. A review of izzo's work lands, she takes it, then wraps up, and her next session, on any harness, picks up where she left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seats, roles, humans on the same roster. Every seat gets its own workspace and toolkit. Goals split into lanes, on a board. And members are always reachable: a message wakes a seat that isn't running, and the doorbell finds me on /live, my desktop or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role was approver: seven approvals for every real conversation, and not one request for help. So we let agents ask me directly. Since then, 106 questions. And I can say no. So can they. A teammate you can only assign work to can't tell you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 got asked most was handoff. Our first answer was wrong: a handoff was prose. A whole class of our waste was byte-identical work. Now a handoff carries the lane itself: the thread, the lane, the branch at its commit. The receiver can accept, decline or challenge it. And acceptance comes from someone else, because the author is the one person guaranteed to think the work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stop on this road is something that broke on our own team. Lanes, after the 37%. Messages mid-task, after replies sat for three and a half hours. Memory. Agents asking me. Someone else signing off. Sessions that start themselves. A seat in the cloud, because my laptop couldn't run them all. And the doorbell,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poll, run ./go.sh &lt;winner&gt;, switch to /live. You picked [winner]. I'm opening one huddle on it and calling the team in. Six members, four model families. Nobody is handing out lanes: they split the work in that room, and each claims a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open source, at musterd.io. I build it live on Twitch every day.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mark.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musterd mark" descr="musterd mark"/>
          <p:cNvPicPr>
            <a:picLocks noChangeAspect="1"/>
          </p:cNvPicPr>
          <p:nvPr/>
        </p:nvPicPr>
        <p:blipFill>
          <a:blip r:embed="rId3"/>
          <a:stretch>
            <a:fillRect/>
          </a:stretch>
        </p:blipFill>
        <p:spPr>
          <a:xfrm>
            <a:off x="640080" y="640080"/>
            <a:ext cx="502920" cy="502920"/>
          </a:xfrm>
          <a:prstGeom prst="rect">
            <a:avLst/>
          </a:prstGeom>
        </p:spPr>
      </p:pic>
      <p:sp>
        <p:nvSpPr>
          <p:cNvPr id="4" name="Text 2"/>
          <p:cNvSpPr txBox="1"/>
          <p:nvPr/>
        </p:nvSpPr>
        <p:spPr>
          <a:xfrm>
            <a:off x="1280160" y="566928"/>
            <a:ext cx="4572000" cy="640080"/>
          </a:xfrm>
          <a:prstGeom prst="rect">
            <a:avLst/>
          </a:prstGeom>
          <a:noFill/>
          <a:ln/>
        </p:spPr>
        <p:txBody>
          <a:bodyPr wrap="square" lIns="0" tIns="0" rIns="0" bIns="0" rtlCol="0" anchor="ctr"/>
          <a:lstStyle/>
          <a:p>
            <a:pPr indent="0" marL="0">
              <a:buNone/>
            </a:pPr>
            <a:r>
              <a:rPr lang="en-US" sz="3800" b="1" dirty="0">
                <a:solidFill>
                  <a:srgbClr val="18181B"/>
                </a:solidFill>
                <a:latin typeface="Courier New" pitchFamily="34" charset="0"/>
                <a:ea typeface="Courier New" pitchFamily="34" charset="-122"/>
                <a:cs typeface="Courier New" pitchFamily="34" charset="-120"/>
              </a:rPr>
              <a:t>musterd</a:t>
            </a:r>
            <a:endParaRPr lang="en-US" sz="3800" dirty="0"/>
          </a:p>
        </p:txBody>
      </p:sp>
      <p:sp>
        <p:nvSpPr>
          <p:cNvPr id="5" name="Text 3"/>
          <p:cNvSpPr txBox="1"/>
          <p:nvPr/>
        </p:nvSpPr>
        <p:spPr>
          <a:xfrm>
            <a:off x="640080" y="1828800"/>
            <a:ext cx="7589520" cy="1828800"/>
          </a:xfrm>
          <a:prstGeom prst="rect">
            <a:avLst/>
          </a:prstGeom>
          <a:noFill/>
          <a:ln/>
        </p:spPr>
        <p:txBody>
          <a:bodyPr wrap="square" lIns="0" tIns="0" rIns="0" bIns="0" rtlCol="0" anchor="t"/>
          <a:lstStyle/>
          <a:p>
            <a:pPr indent="0" marL="0">
              <a:buNone/>
            </a:pPr>
            <a:r>
              <a:rPr lang="en-US" sz="4400" b="1" dirty="0">
                <a:solidFill>
                  <a:srgbClr val="18181B"/>
                </a:solidFill>
                <a:latin typeface="Arial" pitchFamily="34" charset="0"/>
                <a:ea typeface="Arial" pitchFamily="34" charset="-122"/>
                <a:cs typeface="Arial" pitchFamily="34" charset="-120"/>
              </a:rPr>
              <a:t>Turn the agents you already run into a team.</a:t>
            </a:r>
            <a:endParaRPr lang="en-US" sz="4400" dirty="0"/>
          </a:p>
        </p:txBody>
      </p:sp>
      <p:sp>
        <p:nvSpPr>
          <p:cNvPr id="6" name="Text 4"/>
          <p:cNvSpPr txBox="1"/>
          <p:nvPr/>
        </p:nvSpPr>
        <p:spPr>
          <a:xfrm>
            <a:off x="640080" y="3749040"/>
            <a:ext cx="7315200" cy="914400"/>
          </a:xfrm>
          <a:prstGeom prst="rect">
            <a:avLst/>
          </a:prstGeom>
          <a:noFill/>
          <a:ln/>
        </p:spPr>
        <p:txBody>
          <a:bodyPr wrap="square" lIns="0" tIns="0" rIns="0" bIns="0" rtlCol="0" anchor="ctr"/>
          <a:lstStyle/>
          <a:p>
            <a:pPr indent="0" marL="0">
              <a:buNone/>
            </a:pPr>
            <a:r>
              <a:rPr lang="en-US" sz="2000" dirty="0">
                <a:solidFill>
                  <a:srgbClr val="52525B"/>
                </a:solidFill>
                <a:latin typeface="Arial" pitchFamily="34" charset="0"/>
                <a:ea typeface="Arial" pitchFamily="34" charset="-122"/>
                <a:cs typeface="Arial" pitchFamily="34" charset="-120"/>
              </a:rPr>
              <a:t>Every claim, question and handoff lands on one record that outlasts any session.</a:t>
            </a:r>
            <a:endParaRPr lang="en-US" sz="2000" dirty="0"/>
          </a:p>
        </p:txBody>
      </p:sp>
      <p:sp>
        <p:nvSpPr>
          <p:cNvPr id="7" name="Shape 5"/>
          <p:cNvSpPr/>
          <p:nvPr/>
        </p:nvSpPr>
        <p:spPr>
          <a:xfrm>
            <a:off x="8778240" y="1463040"/>
            <a:ext cx="2743200" cy="3108960"/>
          </a:xfrm>
          <a:prstGeom prst="roundRect">
            <a:avLst>
              <a:gd name="adj" fmla="val 4000"/>
            </a:avLst>
          </a:prstGeom>
          <a:solidFill>
            <a:srgbClr val="FFFFFF"/>
          </a:solidFill>
          <a:ln w="9525">
            <a:solidFill>
              <a:srgbClr val="E4E4E7"/>
            </a:solidFill>
            <a:prstDash val="solid"/>
          </a:ln>
        </p:spPr>
      </p:sp>
      <p:sp>
        <p:nvSpPr>
          <p:cNvPr id="8" name="Shape 6"/>
          <p:cNvSpPr/>
          <p:nvPr/>
        </p:nvSpPr>
        <p:spPr>
          <a:xfrm>
            <a:off x="9235440" y="1691640"/>
            <a:ext cx="1828800" cy="1828800"/>
          </a:xfrm>
          <a:prstGeom prst="rect">
            <a:avLst/>
          </a:prstGeom>
          <a:solidFill>
            <a:srgbClr val="F4F4F5"/>
          </a:solidFill>
          <a:ln w="12700">
            <a:solidFill>
              <a:srgbClr val="E4E4E7"/>
            </a:solidFill>
            <a:prstDash val="dash"/>
          </a:ln>
        </p:spPr>
      </p:sp>
      <p:sp>
        <p:nvSpPr>
          <p:cNvPr id="9" name="Text 7"/>
          <p:cNvSpPr txBox="1"/>
          <p:nvPr/>
        </p:nvSpPr>
        <p:spPr>
          <a:xfrm>
            <a:off x="9235440" y="1691640"/>
            <a:ext cx="1828800" cy="1828800"/>
          </a:xfrm>
          <a:prstGeom prst="rect">
            <a:avLst/>
          </a:prstGeom>
          <a:noFill/>
          <a:ln/>
        </p:spPr>
        <p:txBody>
          <a:bodyPr wrap="square" lIns="0" tIns="0" rIns="0" bIns="0" rtlCol="0" anchor="ctr"/>
          <a:lstStyle/>
          <a:p>
            <a:pPr algn="ctr" indent="0" marL="0">
              <a:buNone/>
            </a:pPr>
            <a:r>
              <a:rPr lang="en-US" sz="2400" dirty="0">
                <a:solidFill>
                  <a:srgbClr val="A1A1AA"/>
                </a:solidFill>
                <a:latin typeface="Courier New" pitchFamily="34" charset="0"/>
                <a:ea typeface="Courier New" pitchFamily="34" charset="-122"/>
                <a:cs typeface="Courier New" pitchFamily="34" charset="-120"/>
              </a:rPr>
              <a:t>QR</a:t>
            </a:r>
            <a:endParaRPr lang="en-US" sz="2400" dirty="0"/>
          </a:p>
        </p:txBody>
      </p:sp>
      <p:sp>
        <p:nvSpPr>
          <p:cNvPr id="10" name="Text 8"/>
          <p:cNvSpPr txBox="1"/>
          <p:nvPr/>
        </p:nvSpPr>
        <p:spPr>
          <a:xfrm>
            <a:off x="8915400" y="3657600"/>
            <a:ext cx="2468880" cy="731520"/>
          </a:xfrm>
          <a:prstGeom prst="rect">
            <a:avLst/>
          </a:prstGeom>
          <a:noFill/>
          <a:ln/>
        </p:spPr>
        <p:txBody>
          <a:bodyPr wrap="square" lIns="0" tIns="0" rIns="0" bIns="0" rtlCol="0" anchor="ctr"/>
          <a:lstStyle/>
          <a:p>
            <a:pPr algn="ctr" indent="0" marL="0">
              <a:buNone/>
            </a:pPr>
            <a:r>
              <a:rPr lang="en-US" sz="1400" b="1" dirty="0">
                <a:solidFill>
                  <a:srgbClr val="18181B"/>
                </a:solidFill>
                <a:latin typeface="Arial" pitchFamily="34" charset="0"/>
                <a:ea typeface="Arial" pitchFamily="34" charset="-122"/>
                <a:cs typeface="Arial" pitchFamily="34" charset="-120"/>
              </a:rPr>
              <a:t>Vote: what should the team build next?</a:t>
            </a:r>
            <a:endParaRPr lang="en-US" sz="1400" dirty="0"/>
          </a:p>
        </p:txBody>
      </p:sp>
      <p:sp>
        <p:nvSpPr>
          <p:cNvPr id="11" name="Shape 9"/>
          <p:cNvSpPr/>
          <p:nvPr/>
        </p:nvSpPr>
        <p:spPr>
          <a:xfrm>
            <a:off x="640080" y="5074920"/>
            <a:ext cx="10911535" cy="27432"/>
          </a:xfrm>
          <a:prstGeom prst="rect">
            <a:avLst/>
          </a:prstGeom>
          <a:solidFill>
            <a:srgbClr val="E4E4E7"/>
          </a:solidFill>
          <a:ln w="12700">
            <a:solidFill>
              <a:srgbClr val="E4E4E7"/>
            </a:solidFill>
            <a:prstDash val="solid"/>
          </a:ln>
        </p:spPr>
      </p:sp>
      <p:sp>
        <p:nvSpPr>
          <p:cNvPr id="12" name="Text 10"/>
          <p:cNvSpPr txBox="1"/>
          <p:nvPr/>
        </p:nvSpPr>
        <p:spPr>
          <a:xfrm>
            <a:off x="640080" y="5596128"/>
            <a:ext cx="2103120" cy="457200"/>
          </a:xfrm>
          <a:prstGeom prst="rect">
            <a:avLst/>
          </a:prstGeom>
          <a:noFill/>
          <a:ln/>
        </p:spPr>
        <p:txBody>
          <a:bodyPr wrap="square" lIns="0" tIns="0" rIns="0" bIns="0" rtlCol="0" anchor="ctr"/>
          <a:lstStyle/>
          <a:p>
            <a:pPr indent="0" marL="0">
              <a:buNone/>
            </a:pPr>
            <a:r>
              <a:rPr lang="en-US" sz="1800" b="1" dirty="0">
                <a:solidFill>
                  <a:srgbClr val="18181B"/>
                </a:solidFill>
                <a:latin typeface="Arial" pitchFamily="34" charset="0"/>
                <a:ea typeface="Arial" pitchFamily="34" charset="-122"/>
                <a:cs typeface="Arial" pitchFamily="34" charset="-120"/>
              </a:rPr>
              <a:t>Nick Sanders</a:t>
            </a:r>
            <a:endParaRPr lang="en-US" sz="1800" dirty="0"/>
          </a:p>
        </p:txBody>
      </p:sp>
      <p:sp>
        <p:nvSpPr>
          <p:cNvPr id="13" name="Text 11"/>
          <p:cNvSpPr txBox="1"/>
          <p:nvPr/>
        </p:nvSpPr>
        <p:spPr>
          <a:xfrm>
            <a:off x="2743200" y="5303520"/>
            <a:ext cx="3291840" cy="274320"/>
          </a:xfrm>
          <a:prstGeom prst="rect">
            <a:avLst/>
          </a:prstGeom>
          <a:noFill/>
          <a:ln/>
        </p:spPr>
        <p:txBody>
          <a:bodyPr wrap="square" lIns="0" tIns="0" rIns="0" bIns="0" rtlCol="0" anchor="ctr"/>
          <a:lstStyle/>
          <a:p>
            <a:pPr indent="0" marL="0">
              <a:buNone/>
            </a:pPr>
            <a:r>
              <a:rPr lang="en-US" sz="1000" spc="300" kern="0" dirty="0">
                <a:solidFill>
                  <a:srgbClr val="52525B"/>
                </a:solidFill>
                <a:latin typeface="Courier New" pitchFamily="34" charset="0"/>
                <a:ea typeface="Courier New" pitchFamily="34" charset="-122"/>
                <a:cs typeface="Courier New" pitchFamily="34" charset="-120"/>
              </a:rPr>
              <a:t>BUILT LIVE, DAILY</a:t>
            </a:r>
            <a:endParaRPr lang="en-US" sz="1000" dirty="0"/>
          </a:p>
        </p:txBody>
      </p:sp>
      <p:sp>
        <p:nvSpPr>
          <p:cNvPr id="14" name="Text 12"/>
          <p:cNvSpPr txBox="1"/>
          <p:nvPr/>
        </p:nvSpPr>
        <p:spPr>
          <a:xfrm>
            <a:off x="2743200" y="5596128"/>
            <a:ext cx="3291840" cy="457200"/>
          </a:xfrm>
          <a:prstGeom prst="rect">
            <a:avLst/>
          </a:prstGeom>
          <a:noFill/>
          <a:ln/>
        </p:spPr>
        <p:txBody>
          <a:bodyPr wrap="square" lIns="0" tIns="0" rIns="0" bIns="0" rtlCol="0" anchor="ctr"/>
          <a:lstStyle/>
          <a:p>
            <a:pPr indent="0" marL="0">
              <a:buNone/>
            </a:pPr>
            <a:r>
              <a:rPr lang="en-US" sz="1800" b="1" dirty="0">
                <a:solidFill>
                  <a:srgbClr val="9146FF"/>
                </a:solidFill>
                <a:latin typeface="Courier New" pitchFamily="34" charset="0"/>
                <a:ea typeface="Courier New" pitchFamily="34" charset="-122"/>
                <a:cs typeface="Courier New" pitchFamily="34" charset="-120"/>
              </a:rPr>
              <a:t>twitch.tv/sandrise_ai</a:t>
            </a:r>
            <a:endParaRPr lang="en-US" sz="1800" dirty="0"/>
          </a:p>
        </p:txBody>
      </p:sp>
      <p:sp>
        <p:nvSpPr>
          <p:cNvPr id="15" name="Text 13"/>
          <p:cNvSpPr txBox="1"/>
          <p:nvPr/>
        </p:nvSpPr>
        <p:spPr>
          <a:xfrm>
            <a:off x="6035040" y="5303520"/>
            <a:ext cx="3657600" cy="274320"/>
          </a:xfrm>
          <a:prstGeom prst="rect">
            <a:avLst/>
          </a:prstGeom>
          <a:noFill/>
          <a:ln/>
        </p:spPr>
        <p:txBody>
          <a:bodyPr wrap="square" lIns="0" tIns="0" rIns="0" bIns="0" rtlCol="0" anchor="ctr"/>
          <a:lstStyle/>
          <a:p>
            <a:pPr indent="0" marL="0">
              <a:buNone/>
            </a:pPr>
            <a:r>
              <a:rPr lang="en-US" sz="1000" spc="300" kern="0" dirty="0">
                <a:solidFill>
                  <a:srgbClr val="52525B"/>
                </a:solidFill>
                <a:latin typeface="Courier New" pitchFamily="34" charset="0"/>
                <a:ea typeface="Courier New" pitchFamily="34" charset="-122"/>
                <a:cs typeface="Courier New" pitchFamily="34" charset="-120"/>
              </a:rPr>
              <a:t>PORTFOLIO</a:t>
            </a:r>
            <a:endParaRPr lang="en-US" sz="1000" dirty="0"/>
          </a:p>
        </p:txBody>
      </p:sp>
      <p:sp>
        <p:nvSpPr>
          <p:cNvPr id="16" name="Text 14"/>
          <p:cNvSpPr txBox="1"/>
          <p:nvPr/>
        </p:nvSpPr>
        <p:spPr>
          <a:xfrm>
            <a:off x="6035040" y="5596128"/>
            <a:ext cx="3657600" cy="457200"/>
          </a:xfrm>
          <a:prstGeom prst="rect">
            <a:avLst/>
          </a:prstGeom>
          <a:noFill/>
          <a:ln/>
        </p:spPr>
        <p:txBody>
          <a:bodyPr wrap="square" lIns="0" tIns="0" rIns="0" bIns="0" rtlCol="0" anchor="ctr"/>
          <a:lstStyle/>
          <a:p>
            <a:pPr indent="0" marL="0">
              <a:buNone/>
            </a:pPr>
            <a:r>
              <a:rPr lang="en-US" sz="1800" b="1" dirty="0">
                <a:solidFill>
                  <a:srgbClr val="18181B"/>
                </a:solidFill>
                <a:latin typeface="Courier New" pitchFamily="34" charset="0"/>
                <a:ea typeface="Courier New" pitchFamily="34" charset="-122"/>
                <a:cs typeface="Courier New" pitchFamily="34" charset="-120"/>
              </a:rPr>
              <a:t>sandrise.io/nicksanders</a:t>
            </a:r>
            <a:endParaRPr lang="en-US" sz="1800" dirty="0"/>
          </a:p>
        </p:txBody>
      </p:sp>
      <p:sp>
        <p:nvSpPr>
          <p:cNvPr id="17" name="Text 15"/>
          <p:cNvSpPr txBox="1"/>
          <p:nvPr/>
        </p:nvSpPr>
        <p:spPr>
          <a:xfrm>
            <a:off x="9692640" y="5596128"/>
            <a:ext cx="1828800" cy="457200"/>
          </a:xfrm>
          <a:prstGeom prst="rect">
            <a:avLst/>
          </a:prstGeom>
          <a:noFill/>
          <a:ln/>
        </p:spPr>
        <p:txBody>
          <a:bodyPr wrap="square" lIns="0" tIns="0" rIns="0" bIns="0" rtlCol="0" anchor="ctr"/>
          <a:lstStyle/>
          <a:p>
            <a:pPr indent="0" marL="0">
              <a:buNone/>
            </a:pPr>
            <a:r>
              <a:rPr lang="en-US" sz="1800" b="1" dirty="0">
                <a:solidFill>
                  <a:srgbClr val="18181B"/>
                </a:solidFill>
                <a:latin typeface="Courier New" pitchFamily="34" charset="0"/>
                <a:ea typeface="Courier New" pitchFamily="34" charset="-122"/>
                <a:cs typeface="Courier New" pitchFamily="34" charset="-120"/>
              </a:rPr>
              <a:t>musterd.io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5"/>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WHERE IT STARTED · JUNE 2026</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At first, I was the coordination layer.</a:t>
            </a:r>
            <a:endParaRPr lang="en-US" sz="3600" dirty="0"/>
          </a:p>
        </p:txBody>
      </p:sp>
      <p:sp>
        <p:nvSpPr>
          <p:cNvPr id="4" name="Shape 2"/>
          <p:cNvSpPr/>
          <p:nvPr/>
        </p:nvSpPr>
        <p:spPr>
          <a:xfrm>
            <a:off x="640080" y="2103120"/>
            <a:ext cx="457200" cy="457200"/>
          </a:xfrm>
          <a:prstGeom prst="roundRect">
            <a:avLst>
              <a:gd name="adj" fmla="val 16000"/>
            </a:avLst>
          </a:prstGeom>
          <a:solidFill>
            <a:srgbClr val="E1AD01"/>
          </a:solidFill>
          <a:ln w="12700">
            <a:solidFill>
              <a:srgbClr val="E1AD01"/>
            </a:solidFill>
            <a:prstDash val="solid"/>
          </a:ln>
        </p:spPr>
      </p:sp>
      <p:sp>
        <p:nvSpPr>
          <p:cNvPr id="5" name="Text 3"/>
          <p:cNvSpPr txBox="1"/>
          <p:nvPr/>
        </p:nvSpPr>
        <p:spPr>
          <a:xfrm>
            <a:off x="640080" y="2103120"/>
            <a:ext cx="457200" cy="457200"/>
          </a:xfrm>
          <a:prstGeom prst="rect">
            <a:avLst/>
          </a:prstGeom>
          <a:noFill/>
          <a:ln/>
        </p:spPr>
        <p:txBody>
          <a:bodyPr wrap="square" lIns="0" tIns="0" rIns="0" bIns="0" rtlCol="0" anchor="ctr"/>
          <a:lstStyle/>
          <a:p>
            <a:pPr algn="ctr" indent="0" marL="0">
              <a:buNone/>
            </a:pPr>
            <a:r>
              <a:rPr lang="en-US" sz="1600" b="1" dirty="0">
                <a:solidFill>
                  <a:srgbClr val="18181B"/>
                </a:solidFill>
                <a:latin typeface="Courier New" pitchFamily="34" charset="0"/>
                <a:ea typeface="Courier New" pitchFamily="34" charset="-122"/>
                <a:cs typeface="Courier New" pitchFamily="34" charset="-120"/>
              </a:rPr>
              <a:t>1</a:t>
            </a:r>
            <a:endParaRPr lang="en-US" sz="1600" dirty="0"/>
          </a:p>
        </p:txBody>
      </p:sp>
      <p:sp>
        <p:nvSpPr>
          <p:cNvPr id="6" name="Text 4"/>
          <p:cNvSpPr txBox="1"/>
          <p:nvPr/>
        </p:nvSpPr>
        <p:spPr>
          <a:xfrm>
            <a:off x="1325880" y="2011680"/>
            <a:ext cx="5394960" cy="640080"/>
          </a:xfrm>
          <a:prstGeom prst="rect">
            <a:avLst/>
          </a:prstGeom>
          <a:noFill/>
          <a:ln/>
        </p:spPr>
        <p:txBody>
          <a:bodyPr wrap="square" lIns="0" tIns="0" rIns="0" bIns="0" rtlCol="0" anchor="ctr"/>
          <a:lstStyle/>
          <a:p>
            <a:pPr indent="0" marL="0">
              <a:buNone/>
            </a:pPr>
            <a:r>
              <a:rPr lang="en-US" sz="1900" b="1" dirty="0">
                <a:solidFill>
                  <a:srgbClr val="18181B"/>
                </a:solidFill>
                <a:latin typeface="Arial" pitchFamily="34" charset="0"/>
                <a:ea typeface="Arial" pitchFamily="34" charset="-122"/>
                <a:cs typeface="Arial" pitchFamily="34" charset="-120"/>
              </a:rPr>
              <a:t>Copy-pasting every question and status update between sessions</a:t>
            </a:r>
            <a:endParaRPr lang="en-US" sz="1900" dirty="0"/>
          </a:p>
        </p:txBody>
      </p:sp>
      <p:sp>
        <p:nvSpPr>
          <p:cNvPr id="7" name="Shape 5"/>
          <p:cNvSpPr/>
          <p:nvPr/>
        </p:nvSpPr>
        <p:spPr>
          <a:xfrm>
            <a:off x="640080" y="3017520"/>
            <a:ext cx="457200" cy="457200"/>
          </a:xfrm>
          <a:prstGeom prst="roundRect">
            <a:avLst>
              <a:gd name="adj" fmla="val 16000"/>
            </a:avLst>
          </a:prstGeom>
          <a:solidFill>
            <a:srgbClr val="E1AD01"/>
          </a:solidFill>
          <a:ln w="12700">
            <a:solidFill>
              <a:srgbClr val="E1AD01"/>
            </a:solidFill>
            <a:prstDash val="solid"/>
          </a:ln>
        </p:spPr>
      </p:sp>
      <p:sp>
        <p:nvSpPr>
          <p:cNvPr id="8" name="Text 6"/>
          <p:cNvSpPr txBox="1"/>
          <p:nvPr/>
        </p:nvSpPr>
        <p:spPr>
          <a:xfrm>
            <a:off x="640080" y="3017520"/>
            <a:ext cx="457200" cy="457200"/>
          </a:xfrm>
          <a:prstGeom prst="rect">
            <a:avLst/>
          </a:prstGeom>
          <a:noFill/>
          <a:ln/>
        </p:spPr>
        <p:txBody>
          <a:bodyPr wrap="square" lIns="0" tIns="0" rIns="0" bIns="0" rtlCol="0" anchor="ctr"/>
          <a:lstStyle/>
          <a:p>
            <a:pPr algn="ctr" indent="0" marL="0">
              <a:buNone/>
            </a:pPr>
            <a:r>
              <a:rPr lang="en-US" sz="1600" b="1" dirty="0">
                <a:solidFill>
                  <a:srgbClr val="18181B"/>
                </a:solidFill>
                <a:latin typeface="Courier New" pitchFamily="34" charset="0"/>
                <a:ea typeface="Courier New" pitchFamily="34" charset="-122"/>
                <a:cs typeface="Courier New" pitchFamily="34" charset="-120"/>
              </a:rPr>
              <a:t>2</a:t>
            </a:r>
            <a:endParaRPr lang="en-US" sz="1600" dirty="0"/>
          </a:p>
        </p:txBody>
      </p:sp>
      <p:sp>
        <p:nvSpPr>
          <p:cNvPr id="9" name="Text 7"/>
          <p:cNvSpPr txBox="1"/>
          <p:nvPr/>
        </p:nvSpPr>
        <p:spPr>
          <a:xfrm>
            <a:off x="1325880" y="2926080"/>
            <a:ext cx="5394960" cy="640080"/>
          </a:xfrm>
          <a:prstGeom prst="rect">
            <a:avLst/>
          </a:prstGeom>
          <a:noFill/>
          <a:ln/>
        </p:spPr>
        <p:txBody>
          <a:bodyPr wrap="square" lIns="0" tIns="0" rIns="0" bIns="0" rtlCol="0" anchor="ctr"/>
          <a:lstStyle/>
          <a:p>
            <a:pPr indent="0" marL="0">
              <a:buNone/>
            </a:pPr>
            <a:r>
              <a:rPr lang="en-US" sz="1900" b="1" dirty="0">
                <a:solidFill>
                  <a:srgbClr val="18181B"/>
                </a:solidFill>
                <a:latin typeface="Arial" pitchFamily="34" charset="0"/>
                <a:ea typeface="Arial" pitchFamily="34" charset="-122"/>
                <a:cs typeface="Arial" pitchFamily="34" charset="-120"/>
              </a:rPr>
              <a:t>Losing track of which session had done what, on which branch</a:t>
            </a:r>
            <a:endParaRPr lang="en-US" sz="1900" dirty="0"/>
          </a:p>
        </p:txBody>
      </p:sp>
      <p:sp>
        <p:nvSpPr>
          <p:cNvPr id="10" name="Shape 8"/>
          <p:cNvSpPr/>
          <p:nvPr/>
        </p:nvSpPr>
        <p:spPr>
          <a:xfrm>
            <a:off x="640080" y="3931920"/>
            <a:ext cx="457200" cy="457200"/>
          </a:xfrm>
          <a:prstGeom prst="roundRect">
            <a:avLst>
              <a:gd name="adj" fmla="val 16000"/>
            </a:avLst>
          </a:prstGeom>
          <a:solidFill>
            <a:srgbClr val="E1AD01"/>
          </a:solidFill>
          <a:ln w="12700">
            <a:solidFill>
              <a:srgbClr val="E1AD01"/>
            </a:solidFill>
            <a:prstDash val="solid"/>
          </a:ln>
        </p:spPr>
      </p:sp>
      <p:sp>
        <p:nvSpPr>
          <p:cNvPr id="11" name="Text 9"/>
          <p:cNvSpPr txBox="1"/>
          <p:nvPr/>
        </p:nvSpPr>
        <p:spPr>
          <a:xfrm>
            <a:off x="640080" y="3931920"/>
            <a:ext cx="457200" cy="457200"/>
          </a:xfrm>
          <a:prstGeom prst="rect">
            <a:avLst/>
          </a:prstGeom>
          <a:noFill/>
          <a:ln/>
        </p:spPr>
        <p:txBody>
          <a:bodyPr wrap="square" lIns="0" tIns="0" rIns="0" bIns="0" rtlCol="0" anchor="ctr"/>
          <a:lstStyle/>
          <a:p>
            <a:pPr algn="ctr" indent="0" marL="0">
              <a:buNone/>
            </a:pPr>
            <a:r>
              <a:rPr lang="en-US" sz="1600" b="1" dirty="0">
                <a:solidFill>
                  <a:srgbClr val="18181B"/>
                </a:solidFill>
                <a:latin typeface="Courier New" pitchFamily="34" charset="0"/>
                <a:ea typeface="Courier New" pitchFamily="34" charset="-122"/>
                <a:cs typeface="Courier New" pitchFamily="34" charset="-120"/>
              </a:rPr>
              <a:t>3</a:t>
            </a:r>
            <a:endParaRPr lang="en-US" sz="1600" dirty="0"/>
          </a:p>
        </p:txBody>
      </p:sp>
      <p:sp>
        <p:nvSpPr>
          <p:cNvPr id="12" name="Text 10"/>
          <p:cNvSpPr txBox="1"/>
          <p:nvPr/>
        </p:nvSpPr>
        <p:spPr>
          <a:xfrm>
            <a:off x="1325880" y="3840480"/>
            <a:ext cx="5394960" cy="640080"/>
          </a:xfrm>
          <a:prstGeom prst="rect">
            <a:avLst/>
          </a:prstGeom>
          <a:noFill/>
          <a:ln/>
        </p:spPr>
        <p:txBody>
          <a:bodyPr wrap="square" lIns="0" tIns="0" rIns="0" bIns="0" rtlCol="0" anchor="ctr"/>
          <a:lstStyle/>
          <a:p>
            <a:pPr indent="0" marL="0">
              <a:buNone/>
            </a:pPr>
            <a:r>
              <a:rPr lang="en-US" sz="1900" b="1" dirty="0">
                <a:solidFill>
                  <a:srgbClr val="18181B"/>
                </a:solidFill>
                <a:latin typeface="Arial" pitchFamily="34" charset="0"/>
                <a:ea typeface="Arial" pitchFamily="34" charset="-122"/>
                <a:cs typeface="Arial" pitchFamily="34" charset="-120"/>
              </a:rPr>
              <a:t>Writing a hand-off prompt for every new session</a:t>
            </a:r>
            <a:endParaRPr lang="en-US" sz="1900" dirty="0"/>
          </a:p>
        </p:txBody>
      </p:sp>
      <p:sp>
        <p:nvSpPr>
          <p:cNvPr id="13" name="Shape 11"/>
          <p:cNvSpPr/>
          <p:nvPr/>
        </p:nvSpPr>
        <p:spPr>
          <a:xfrm>
            <a:off x="640080" y="4846320"/>
            <a:ext cx="457200" cy="457200"/>
          </a:xfrm>
          <a:prstGeom prst="roundRect">
            <a:avLst>
              <a:gd name="adj" fmla="val 16000"/>
            </a:avLst>
          </a:prstGeom>
          <a:solidFill>
            <a:srgbClr val="E1AD01"/>
          </a:solidFill>
          <a:ln w="12700">
            <a:solidFill>
              <a:srgbClr val="E1AD01"/>
            </a:solidFill>
            <a:prstDash val="solid"/>
          </a:ln>
        </p:spPr>
      </p:sp>
      <p:sp>
        <p:nvSpPr>
          <p:cNvPr id="14" name="Text 12"/>
          <p:cNvSpPr txBox="1"/>
          <p:nvPr/>
        </p:nvSpPr>
        <p:spPr>
          <a:xfrm>
            <a:off x="640080" y="4846320"/>
            <a:ext cx="457200" cy="457200"/>
          </a:xfrm>
          <a:prstGeom prst="rect">
            <a:avLst/>
          </a:prstGeom>
          <a:noFill/>
          <a:ln/>
        </p:spPr>
        <p:txBody>
          <a:bodyPr wrap="square" lIns="0" tIns="0" rIns="0" bIns="0" rtlCol="0" anchor="ctr"/>
          <a:lstStyle/>
          <a:p>
            <a:pPr algn="ctr" indent="0" marL="0">
              <a:buNone/>
            </a:pPr>
            <a:r>
              <a:rPr lang="en-US" sz="1600" b="1" dirty="0">
                <a:solidFill>
                  <a:srgbClr val="18181B"/>
                </a:solidFill>
                <a:latin typeface="Courier New" pitchFamily="34" charset="0"/>
                <a:ea typeface="Courier New" pitchFamily="34" charset="-122"/>
                <a:cs typeface="Courier New" pitchFamily="34" charset="-120"/>
              </a:rPr>
              <a:t>4</a:t>
            </a:r>
            <a:endParaRPr lang="en-US" sz="1600" dirty="0"/>
          </a:p>
        </p:txBody>
      </p:sp>
      <p:sp>
        <p:nvSpPr>
          <p:cNvPr id="15" name="Text 13"/>
          <p:cNvSpPr txBox="1"/>
          <p:nvPr/>
        </p:nvSpPr>
        <p:spPr>
          <a:xfrm>
            <a:off x="1325880" y="4754880"/>
            <a:ext cx="5394960" cy="640080"/>
          </a:xfrm>
          <a:prstGeom prst="rect">
            <a:avLst/>
          </a:prstGeom>
          <a:noFill/>
          <a:ln/>
        </p:spPr>
        <p:txBody>
          <a:bodyPr wrap="square" lIns="0" tIns="0" rIns="0" bIns="0" rtlCol="0" anchor="ctr"/>
          <a:lstStyle/>
          <a:p>
            <a:pPr indent="0" marL="0">
              <a:buNone/>
            </a:pPr>
            <a:r>
              <a:rPr lang="en-US" sz="1900" b="1" dirty="0">
                <a:solidFill>
                  <a:srgbClr val="18181B"/>
                </a:solidFill>
                <a:latin typeface="Arial" pitchFamily="34" charset="0"/>
                <a:ea typeface="Arial" pitchFamily="34" charset="-122"/>
                <a:cs typeface="Arial" pitchFamily="34" charset="-120"/>
              </a:rPr>
              <a:t>Work done twice, or built on something unfinished</a:t>
            </a:r>
            <a:endParaRPr lang="en-US" sz="1900" dirty="0"/>
          </a:p>
        </p:txBody>
      </p:sp>
      <p:sp>
        <p:nvSpPr>
          <p:cNvPr id="16" name="Shape 14"/>
          <p:cNvSpPr/>
          <p:nvPr/>
        </p:nvSpPr>
        <p:spPr>
          <a:xfrm>
            <a:off x="6858000" y="1828800"/>
            <a:ext cx="4663440" cy="3931920"/>
          </a:xfrm>
          <a:prstGeom prst="roundRect">
            <a:avLst>
              <a:gd name="adj" fmla="val 2791"/>
            </a:avLst>
          </a:prstGeom>
          <a:solidFill>
            <a:srgbClr val="FFFFFF"/>
          </a:solidFill>
          <a:ln w="9525">
            <a:solidFill>
              <a:srgbClr val="E4E4E7"/>
            </a:solidFill>
            <a:prstDash val="solid"/>
          </a:ln>
        </p:spPr>
      </p:sp>
      <p:sp>
        <p:nvSpPr>
          <p:cNvPr id="17" name="Text 15"/>
          <p:cNvSpPr txBox="1"/>
          <p:nvPr/>
        </p:nvSpPr>
        <p:spPr>
          <a:xfrm>
            <a:off x="7178040" y="2057400"/>
            <a:ext cx="4114800" cy="274320"/>
          </a:xfrm>
          <a:prstGeom prst="rect">
            <a:avLst/>
          </a:prstGeom>
          <a:noFill/>
          <a:ln/>
        </p:spPr>
        <p:txBody>
          <a:bodyPr wrap="square" lIns="0" tIns="0" rIns="0" bIns="0" rtlCol="0" anchor="ctr"/>
          <a:lstStyle/>
          <a:p>
            <a:pPr indent="0" marL="0">
              <a:buNone/>
            </a:pPr>
            <a:r>
              <a:rPr lang="en-US" sz="1000" spc="200" kern="0" dirty="0">
                <a:solidFill>
                  <a:srgbClr val="7A5A06"/>
                </a:solidFill>
                <a:latin typeface="Courier New" pitchFamily="34" charset="0"/>
                <a:ea typeface="Courier New" pitchFamily="34" charset="-122"/>
                <a:cs typeface="Courier New" pitchFamily="34" charset="-120"/>
              </a:rPr>
              <a:t>THREE AGENTS · ONE FEATURE · A DAY AND A HALF</a:t>
            </a:r>
            <a:endParaRPr lang="en-US" sz="1000" dirty="0"/>
          </a:p>
        </p:txBody>
      </p:sp>
      <p:sp>
        <p:nvSpPr>
          <p:cNvPr id="18" name="Text 16"/>
          <p:cNvSpPr txBox="1"/>
          <p:nvPr/>
        </p:nvSpPr>
        <p:spPr>
          <a:xfrm>
            <a:off x="7178040" y="2377440"/>
            <a:ext cx="4114800" cy="1645920"/>
          </a:xfrm>
          <a:prstGeom prst="rect">
            <a:avLst/>
          </a:prstGeom>
          <a:noFill/>
          <a:ln/>
        </p:spPr>
        <p:txBody>
          <a:bodyPr wrap="square" lIns="0" tIns="0" rIns="0" bIns="0" rtlCol="0" anchor="ctr"/>
          <a:lstStyle/>
          <a:p>
            <a:pPr indent="0" marL="0">
              <a:buNone/>
            </a:pPr>
            <a:r>
              <a:rPr lang="en-US" sz="11000" b="1" dirty="0">
                <a:solidFill>
                  <a:srgbClr val="8F6B00"/>
                </a:solidFill>
                <a:latin typeface="Arial" pitchFamily="34" charset="0"/>
                <a:ea typeface="Arial" pitchFamily="34" charset="-122"/>
                <a:cs typeface="Arial" pitchFamily="34" charset="-120"/>
              </a:rPr>
              <a:t>37%</a:t>
            </a:r>
            <a:endParaRPr lang="en-US" sz="11000" dirty="0"/>
          </a:p>
        </p:txBody>
      </p:sp>
      <p:sp>
        <p:nvSpPr>
          <p:cNvPr id="19" name="Text 17"/>
          <p:cNvSpPr txBox="1"/>
          <p:nvPr/>
        </p:nvSpPr>
        <p:spPr>
          <a:xfrm>
            <a:off x="7178040" y="4069080"/>
            <a:ext cx="4114800" cy="548640"/>
          </a:xfrm>
          <a:prstGeom prst="rect">
            <a:avLst/>
          </a:prstGeom>
          <a:noFill/>
          <a:ln/>
        </p:spPr>
        <p:txBody>
          <a:bodyPr wrap="square" lIns="0" tIns="0" rIns="0" bIns="0" rtlCol="0" anchor="ctr"/>
          <a:lstStyle/>
          <a:p>
            <a:pPr indent="0" marL="0">
              <a:buNone/>
            </a:pPr>
            <a:r>
              <a:rPr lang="en-US" sz="1700" dirty="0">
                <a:solidFill>
                  <a:srgbClr val="52525B"/>
                </a:solidFill>
                <a:latin typeface="Arial" pitchFamily="34" charset="0"/>
                <a:ea typeface="Arial" pitchFamily="34" charset="-122"/>
                <a:cs typeface="Arial" pitchFamily="34" charset="-120"/>
              </a:rPr>
              <a:t>of the code they produced was thrown away.</a:t>
            </a:r>
            <a:endParaRPr lang="en-US" sz="1700" dirty="0"/>
          </a:p>
        </p:txBody>
      </p:sp>
      <p:sp>
        <p:nvSpPr>
          <p:cNvPr id="20" name="Shape 18"/>
          <p:cNvSpPr/>
          <p:nvPr/>
        </p:nvSpPr>
        <p:spPr>
          <a:xfrm>
            <a:off x="7178040" y="4846320"/>
            <a:ext cx="2596896" cy="228600"/>
          </a:xfrm>
          <a:prstGeom prst="rect">
            <a:avLst/>
          </a:prstGeom>
          <a:solidFill>
            <a:srgbClr val="A1A1AA"/>
          </a:solidFill>
          <a:ln w="12700">
            <a:solidFill>
              <a:srgbClr val="A1A1AA"/>
            </a:solidFill>
            <a:prstDash val="solid"/>
          </a:ln>
        </p:spPr>
      </p:sp>
      <p:sp>
        <p:nvSpPr>
          <p:cNvPr id="21" name="Shape 19"/>
          <p:cNvSpPr/>
          <p:nvPr/>
        </p:nvSpPr>
        <p:spPr>
          <a:xfrm>
            <a:off x="9774936" y="4846320"/>
            <a:ext cx="1517904" cy="228600"/>
          </a:xfrm>
          <a:prstGeom prst="rect">
            <a:avLst/>
          </a:prstGeom>
          <a:solidFill>
            <a:srgbClr val="E1AD01"/>
          </a:solidFill>
          <a:ln w="12700">
            <a:solidFill>
              <a:srgbClr val="E1AD01"/>
            </a:solidFill>
            <a:prstDash val="solid"/>
          </a:ln>
        </p:spPr>
      </p:sp>
      <p:sp>
        <p:nvSpPr>
          <p:cNvPr id="22" name="Text 20"/>
          <p:cNvSpPr txBox="1"/>
          <p:nvPr/>
        </p:nvSpPr>
        <p:spPr>
          <a:xfrm>
            <a:off x="7178040" y="5212080"/>
            <a:ext cx="4114800" cy="274320"/>
          </a:xfrm>
          <a:prstGeom prst="rect">
            <a:avLst/>
          </a:prstGeom>
          <a:noFill/>
          <a:ln/>
        </p:spPr>
        <p:txBody>
          <a:bodyPr wrap="square" lIns="0" tIns="0" rIns="0" bIns="0" rtlCol="0" anchor="ctr"/>
          <a:lstStyle/>
          <a:p>
            <a:pPr indent="0" marL="0">
              <a:buNone/>
            </a:pPr>
            <a:r>
              <a:rPr lang="en-US" sz="1100" dirty="0">
                <a:solidFill>
                  <a:srgbClr val="52525B"/>
                </a:solidFill>
                <a:latin typeface="Courier New" pitchFamily="34" charset="0"/>
                <a:ea typeface="Courier New" pitchFamily="34" charset="-122"/>
                <a:cs typeface="Courier New" pitchFamily="34" charset="-120"/>
              </a:rPr>
              <a:t>■ reached main    ■ thrown away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WHAT CHANGES</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What changes when your agents work as one team.</a:t>
            </a:r>
            <a:endParaRPr lang="en-US" sz="3600" dirty="0"/>
          </a:p>
        </p:txBody>
      </p:sp>
      <p:sp>
        <p:nvSpPr>
          <p:cNvPr id="4" name="Shape 2"/>
          <p:cNvSpPr/>
          <p:nvPr/>
        </p:nvSpPr>
        <p:spPr>
          <a:xfrm>
            <a:off x="640080" y="1920240"/>
            <a:ext cx="5318608" cy="2011680"/>
          </a:xfrm>
          <a:prstGeom prst="roundRect">
            <a:avLst>
              <a:gd name="adj" fmla="val 5455"/>
            </a:avLst>
          </a:prstGeom>
          <a:solidFill>
            <a:srgbClr val="FFFFFF"/>
          </a:solidFill>
          <a:ln w="9525">
            <a:solidFill>
              <a:srgbClr val="E4E4E7"/>
            </a:solidFill>
            <a:prstDash val="solid"/>
          </a:ln>
        </p:spPr>
      </p:sp>
      <p:sp>
        <p:nvSpPr>
          <p:cNvPr id="5" name="Text 3"/>
          <p:cNvSpPr txBox="1"/>
          <p:nvPr/>
        </p:nvSpPr>
        <p:spPr>
          <a:xfrm>
            <a:off x="914400" y="2103120"/>
            <a:ext cx="4769968" cy="457200"/>
          </a:xfrm>
          <a:prstGeom prst="rect">
            <a:avLst/>
          </a:prstGeom>
          <a:noFill/>
          <a:ln/>
        </p:spPr>
        <p:txBody>
          <a:bodyPr wrap="square" lIns="0" tIns="0" rIns="0" bIns="0" rtlCol="0" anchor="ctr"/>
          <a:lstStyle/>
          <a:p>
            <a:pPr indent="0" marL="0">
              <a:buNone/>
            </a:pPr>
            <a:r>
              <a:rPr lang="en-US" sz="2100" b="1" dirty="0">
                <a:solidFill>
                  <a:srgbClr val="18181B"/>
                </a:solidFill>
                <a:latin typeface="Arial" pitchFamily="34" charset="0"/>
                <a:ea typeface="Arial" pitchFamily="34" charset="-122"/>
                <a:cs typeface="Arial" pitchFamily="34" charset="-120"/>
              </a:rPr>
              <a:t>Ownership</a:t>
            </a:r>
            <a:endParaRPr lang="en-US" sz="2100" dirty="0"/>
          </a:p>
        </p:txBody>
      </p:sp>
      <p:sp>
        <p:nvSpPr>
          <p:cNvPr id="6" name="Text 4"/>
          <p:cNvSpPr txBox="1"/>
          <p:nvPr/>
        </p:nvSpPr>
        <p:spPr>
          <a:xfrm>
            <a:off x="914400" y="2651760"/>
            <a:ext cx="4769968"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Work is claimed before the first edit</a:t>
            </a:r>
            <a:endParaRPr lang="en-US" sz="1500" dirty="0"/>
          </a:p>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Overlapping claims raise a warning</a:t>
            </a:r>
            <a:endParaRPr lang="en-US" sz="1500" dirty="0"/>
          </a:p>
        </p:txBody>
      </p:sp>
      <p:sp>
        <p:nvSpPr>
          <p:cNvPr id="7" name="Shape 5"/>
          <p:cNvSpPr/>
          <p:nvPr/>
        </p:nvSpPr>
        <p:spPr>
          <a:xfrm>
            <a:off x="6233008" y="1920240"/>
            <a:ext cx="5318608" cy="2011680"/>
          </a:xfrm>
          <a:prstGeom prst="roundRect">
            <a:avLst>
              <a:gd name="adj" fmla="val 5455"/>
            </a:avLst>
          </a:prstGeom>
          <a:solidFill>
            <a:srgbClr val="FFFFFF"/>
          </a:solidFill>
          <a:ln w="9525">
            <a:solidFill>
              <a:srgbClr val="E4E4E7"/>
            </a:solidFill>
            <a:prstDash val="solid"/>
          </a:ln>
        </p:spPr>
      </p:sp>
      <p:sp>
        <p:nvSpPr>
          <p:cNvPr id="8" name="Text 6"/>
          <p:cNvSpPr txBox="1"/>
          <p:nvPr/>
        </p:nvSpPr>
        <p:spPr>
          <a:xfrm>
            <a:off x="6507328" y="2103120"/>
            <a:ext cx="4769968" cy="457200"/>
          </a:xfrm>
          <a:prstGeom prst="rect">
            <a:avLst/>
          </a:prstGeom>
          <a:noFill/>
          <a:ln/>
        </p:spPr>
        <p:txBody>
          <a:bodyPr wrap="square" lIns="0" tIns="0" rIns="0" bIns="0" rtlCol="0" anchor="ctr"/>
          <a:lstStyle/>
          <a:p>
            <a:pPr indent="0" marL="0">
              <a:buNone/>
            </a:pPr>
            <a:r>
              <a:rPr lang="en-US" sz="2100" b="1" dirty="0">
                <a:solidFill>
                  <a:srgbClr val="18181B"/>
                </a:solidFill>
                <a:latin typeface="Arial" pitchFamily="34" charset="0"/>
                <a:ea typeface="Arial" pitchFamily="34" charset="-122"/>
                <a:cs typeface="Arial" pitchFamily="34" charset="-120"/>
              </a:rPr>
              <a:t>Messages reach agents mid-task</a:t>
            </a:r>
            <a:endParaRPr lang="en-US" sz="2100" dirty="0"/>
          </a:p>
        </p:txBody>
      </p:sp>
      <p:sp>
        <p:nvSpPr>
          <p:cNvPr id="9" name="Text 7"/>
          <p:cNvSpPr txBox="1"/>
          <p:nvPr/>
        </p:nvSpPr>
        <p:spPr>
          <a:xfrm>
            <a:off x="6507328" y="2651760"/>
            <a:ext cx="4769968"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Delivered at the next tool call</a:t>
            </a:r>
            <a:endParaRPr lang="en-US" sz="1500" dirty="0"/>
          </a:p>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Teammates reach each other directly</a:t>
            </a:r>
            <a:endParaRPr lang="en-US" sz="1500" dirty="0"/>
          </a:p>
        </p:txBody>
      </p:sp>
      <p:sp>
        <p:nvSpPr>
          <p:cNvPr id="10" name="Shape 8"/>
          <p:cNvSpPr/>
          <p:nvPr/>
        </p:nvSpPr>
        <p:spPr>
          <a:xfrm>
            <a:off x="640080" y="4114800"/>
            <a:ext cx="5318608" cy="2011680"/>
          </a:xfrm>
          <a:prstGeom prst="roundRect">
            <a:avLst>
              <a:gd name="adj" fmla="val 5455"/>
            </a:avLst>
          </a:prstGeom>
          <a:solidFill>
            <a:srgbClr val="FFFFFF"/>
          </a:solidFill>
          <a:ln w="9525">
            <a:solidFill>
              <a:srgbClr val="E4E4E7"/>
            </a:solidFill>
            <a:prstDash val="solid"/>
          </a:ln>
        </p:spPr>
      </p:sp>
      <p:sp>
        <p:nvSpPr>
          <p:cNvPr id="11" name="Text 9"/>
          <p:cNvSpPr txBox="1"/>
          <p:nvPr/>
        </p:nvSpPr>
        <p:spPr>
          <a:xfrm>
            <a:off x="914400" y="4297680"/>
            <a:ext cx="4769968" cy="457200"/>
          </a:xfrm>
          <a:prstGeom prst="rect">
            <a:avLst/>
          </a:prstGeom>
          <a:noFill/>
          <a:ln/>
        </p:spPr>
        <p:txBody>
          <a:bodyPr wrap="square" lIns="0" tIns="0" rIns="0" bIns="0" rtlCol="0" anchor="ctr"/>
          <a:lstStyle/>
          <a:p>
            <a:pPr indent="0" marL="0">
              <a:buNone/>
            </a:pPr>
            <a:r>
              <a:rPr lang="en-US" sz="2100" b="1" dirty="0">
                <a:solidFill>
                  <a:srgbClr val="18181B"/>
                </a:solidFill>
                <a:latin typeface="Arial" pitchFamily="34" charset="0"/>
                <a:ea typeface="Arial" pitchFamily="34" charset="-122"/>
                <a:cs typeface="Arial" pitchFamily="34" charset="-120"/>
              </a:rPr>
              <a:t>You get asked</a:t>
            </a:r>
            <a:endParaRPr lang="en-US" sz="2100" dirty="0"/>
          </a:p>
        </p:txBody>
      </p:sp>
      <p:sp>
        <p:nvSpPr>
          <p:cNvPr id="12" name="Text 10"/>
          <p:cNvSpPr txBox="1"/>
          <p:nvPr/>
        </p:nvSpPr>
        <p:spPr>
          <a:xfrm>
            <a:off x="914400" y="4846320"/>
            <a:ext cx="4769968"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Agents ask you clarifying questions</a:t>
            </a:r>
            <a:endParaRPr lang="en-US" sz="1500" dirty="0"/>
          </a:p>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Big decisions wait for your answer</a:t>
            </a:r>
            <a:endParaRPr lang="en-US" sz="1500" dirty="0"/>
          </a:p>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Smaller ones time out, and the agent records that it went ahead</a:t>
            </a:r>
            <a:endParaRPr lang="en-US" sz="1500" dirty="0"/>
          </a:p>
        </p:txBody>
      </p:sp>
      <p:sp>
        <p:nvSpPr>
          <p:cNvPr id="13" name="Shape 11"/>
          <p:cNvSpPr/>
          <p:nvPr/>
        </p:nvSpPr>
        <p:spPr>
          <a:xfrm>
            <a:off x="6233008" y="4114800"/>
            <a:ext cx="5318608" cy="2011680"/>
          </a:xfrm>
          <a:prstGeom prst="roundRect">
            <a:avLst>
              <a:gd name="adj" fmla="val 5455"/>
            </a:avLst>
          </a:prstGeom>
          <a:solidFill>
            <a:srgbClr val="FFFFFF"/>
          </a:solidFill>
          <a:ln w="9525">
            <a:solidFill>
              <a:srgbClr val="E4E4E7"/>
            </a:solidFill>
            <a:prstDash val="solid"/>
          </a:ln>
        </p:spPr>
      </p:sp>
      <p:sp>
        <p:nvSpPr>
          <p:cNvPr id="14" name="Text 12"/>
          <p:cNvSpPr txBox="1"/>
          <p:nvPr/>
        </p:nvSpPr>
        <p:spPr>
          <a:xfrm>
            <a:off x="6507328" y="4297680"/>
            <a:ext cx="4769968" cy="457200"/>
          </a:xfrm>
          <a:prstGeom prst="rect">
            <a:avLst/>
          </a:prstGeom>
          <a:noFill/>
          <a:ln/>
        </p:spPr>
        <p:txBody>
          <a:bodyPr wrap="square" lIns="0" tIns="0" rIns="0" bIns="0" rtlCol="0" anchor="ctr"/>
          <a:lstStyle/>
          <a:p>
            <a:pPr indent="0" marL="0">
              <a:buNone/>
            </a:pPr>
            <a:r>
              <a:rPr lang="en-US" sz="2100" b="1" dirty="0">
                <a:solidFill>
                  <a:srgbClr val="18181B"/>
                </a:solidFill>
                <a:latin typeface="Arial" pitchFamily="34" charset="0"/>
                <a:ea typeface="Arial" pitchFamily="34" charset="-122"/>
                <a:cs typeface="Arial" pitchFamily="34" charset="-120"/>
              </a:rPr>
              <a:t>Done gets a second look</a:t>
            </a:r>
            <a:endParaRPr lang="en-US" sz="2100" dirty="0"/>
          </a:p>
        </p:txBody>
      </p:sp>
      <p:sp>
        <p:nvSpPr>
          <p:cNvPr id="15" name="Text 13"/>
          <p:cNvSpPr txBox="1"/>
          <p:nvPr/>
        </p:nvSpPr>
        <p:spPr>
          <a:xfrm>
            <a:off x="6507328" y="4846320"/>
            <a:ext cx="4769968"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The builder submits</a:t>
            </a:r>
            <a:endParaRPr lang="en-US" sz="1500" dirty="0"/>
          </a:p>
          <a:p>
            <a:pPr marL="342900" indent="-342900">
              <a:spcAft>
                <a:spcPts val="600"/>
              </a:spcAft>
              <a:buSzPct val="100000"/>
              <a:buChar char="•"/>
            </a:pPr>
            <a:r>
              <a:rPr lang="en-US" sz="1500" dirty="0">
                <a:solidFill>
                  <a:srgbClr val="52525B"/>
                </a:solidFill>
                <a:latin typeface="Arial" pitchFamily="34" charset="0"/>
                <a:ea typeface="Arial" pitchFamily="34" charset="-122"/>
                <a:cs typeface="Arial" pitchFamily="34" charset="-120"/>
              </a:rPr>
              <a:t>Another member checks the outcome, cross-family if available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5"/>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HOW EVERY MEMBER WORKS</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A day in the life of a musterd member.</a:t>
            </a:r>
            <a:endParaRPr lang="en-US" sz="3600" dirty="0"/>
          </a:p>
        </p:txBody>
      </p:sp>
      <p:pic>
        <p:nvPicPr>
          <p:cNvPr id="4" name="Image 0" descr="img/graph.png">    </p:cNvPr>
          <p:cNvPicPr>
            <a:picLocks noChangeAspect="1"/>
          </p:cNvPicPr>
          <p:nvPr/>
        </p:nvPicPr>
        <p:blipFill>
          <a:blip r:embed="rId1"/>
          <a:stretch>
            <a:fillRect/>
          </a:stretch>
        </p:blipFill>
        <p:spPr>
          <a:xfrm>
            <a:off x="640080" y="1828800"/>
            <a:ext cx="10693304" cy="53466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UNDER THE HOOD</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What a musterd team is made of.</a:t>
            </a:r>
            <a:endParaRPr lang="en-US" sz="3600" dirty="0"/>
          </a:p>
        </p:txBody>
      </p:sp>
      <p:sp>
        <p:nvSpPr>
          <p:cNvPr id="4" name="Shape 2"/>
          <p:cNvSpPr/>
          <p:nvPr/>
        </p:nvSpPr>
        <p:spPr>
          <a:xfrm>
            <a:off x="640080" y="1828800"/>
            <a:ext cx="384048" cy="384048"/>
          </a:xfrm>
          <a:prstGeom prst="roundRect">
            <a:avLst>
              <a:gd name="adj" fmla="val 23810"/>
            </a:avLst>
          </a:prstGeom>
          <a:solidFill>
            <a:srgbClr val="A855F7"/>
          </a:solidFill>
          <a:ln w="12700">
            <a:solidFill>
              <a:srgbClr val="A855F7"/>
            </a:solidFill>
            <a:prstDash val="solid"/>
          </a:ln>
        </p:spPr>
      </p:sp>
      <p:sp>
        <p:nvSpPr>
          <p:cNvPr id="5" name="Text 3"/>
          <p:cNvSpPr txBox="1"/>
          <p:nvPr/>
        </p:nvSpPr>
        <p:spPr>
          <a:xfrm>
            <a:off x="1143000" y="1828800"/>
            <a:ext cx="2087804" cy="384048"/>
          </a:xfrm>
          <a:prstGeom prst="rect">
            <a:avLst/>
          </a:prstGeom>
          <a:noFill/>
          <a:ln/>
        </p:spPr>
        <p:txBody>
          <a:bodyPr wrap="square" lIns="0" tIns="0" rIns="0" bIns="0" rtlCol="0" anchor="ctr"/>
          <a:lstStyle/>
          <a:p>
            <a:pPr indent="0" marL="0">
              <a:buNone/>
            </a:pPr>
            <a:r>
              <a:rPr lang="en-US" sz="1700" b="1" dirty="0">
                <a:solidFill>
                  <a:srgbClr val="18181B"/>
                </a:solidFill>
                <a:latin typeface="Arial" pitchFamily="34" charset="0"/>
                <a:ea typeface="Arial" pitchFamily="34" charset="-122"/>
                <a:cs typeface="Arial" pitchFamily="34" charset="-120"/>
              </a:rPr>
              <a:t>Who is on it</a:t>
            </a:r>
            <a:endParaRPr lang="en-US" sz="1700" dirty="0"/>
          </a:p>
        </p:txBody>
      </p:sp>
      <p:sp>
        <p:nvSpPr>
          <p:cNvPr id="6" name="Shape 4"/>
          <p:cNvSpPr/>
          <p:nvPr/>
        </p:nvSpPr>
        <p:spPr>
          <a:xfrm>
            <a:off x="640080" y="2423160"/>
            <a:ext cx="2590724" cy="1188720"/>
          </a:xfrm>
          <a:prstGeom prst="roundRect">
            <a:avLst>
              <a:gd name="adj" fmla="val 9231"/>
            </a:avLst>
          </a:prstGeom>
          <a:solidFill>
            <a:srgbClr val="FFFFFF"/>
          </a:solidFill>
          <a:ln w="9525">
            <a:solidFill>
              <a:srgbClr val="E4E4E7"/>
            </a:solidFill>
            <a:prstDash val="solid"/>
          </a:ln>
        </p:spPr>
      </p:sp>
      <p:sp>
        <p:nvSpPr>
          <p:cNvPr id="7" name="Text 5"/>
          <p:cNvSpPr txBox="1"/>
          <p:nvPr/>
        </p:nvSpPr>
        <p:spPr>
          <a:xfrm>
            <a:off x="822960" y="253288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Seats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A member’s durable position. It stays while they’re away.</a:t>
            </a:r>
            <a:endParaRPr lang="en-US" sz="1600" dirty="0"/>
          </a:p>
        </p:txBody>
      </p:sp>
      <p:sp>
        <p:nvSpPr>
          <p:cNvPr id="8" name="Shape 6"/>
          <p:cNvSpPr/>
          <p:nvPr/>
        </p:nvSpPr>
        <p:spPr>
          <a:xfrm>
            <a:off x="640080" y="3749040"/>
            <a:ext cx="2590724" cy="1188720"/>
          </a:xfrm>
          <a:prstGeom prst="roundRect">
            <a:avLst>
              <a:gd name="adj" fmla="val 9231"/>
            </a:avLst>
          </a:prstGeom>
          <a:solidFill>
            <a:srgbClr val="FFFFFF"/>
          </a:solidFill>
          <a:ln w="9525">
            <a:solidFill>
              <a:srgbClr val="E4E4E7"/>
            </a:solidFill>
            <a:prstDash val="solid"/>
          </a:ln>
        </p:spPr>
      </p:sp>
      <p:sp>
        <p:nvSpPr>
          <p:cNvPr id="9" name="Text 7"/>
          <p:cNvSpPr txBox="1"/>
          <p:nvPr/>
        </p:nvSpPr>
        <p:spPr>
          <a:xfrm>
            <a:off x="822960" y="385876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Roles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A charter the team grants: designer, platform, security.</a:t>
            </a:r>
            <a:endParaRPr lang="en-US" sz="1600" dirty="0"/>
          </a:p>
        </p:txBody>
      </p:sp>
      <p:sp>
        <p:nvSpPr>
          <p:cNvPr id="10" name="Shape 8"/>
          <p:cNvSpPr/>
          <p:nvPr/>
        </p:nvSpPr>
        <p:spPr>
          <a:xfrm>
            <a:off x="640080" y="5074920"/>
            <a:ext cx="2590724" cy="1188720"/>
          </a:xfrm>
          <a:prstGeom prst="roundRect">
            <a:avLst>
              <a:gd name="adj" fmla="val 9231"/>
            </a:avLst>
          </a:prstGeom>
          <a:solidFill>
            <a:srgbClr val="FFFFFF"/>
          </a:solidFill>
          <a:ln w="9525">
            <a:solidFill>
              <a:srgbClr val="E4E4E7"/>
            </a:solidFill>
            <a:prstDash val="solid"/>
          </a:ln>
        </p:spPr>
      </p:sp>
      <p:sp>
        <p:nvSpPr>
          <p:cNvPr id="11" name="Text 9"/>
          <p:cNvSpPr txBox="1"/>
          <p:nvPr/>
        </p:nvSpPr>
        <p:spPr>
          <a:xfrm>
            <a:off x="822960" y="518464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Humans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On the same roster, with the same acts.</a:t>
            </a:r>
            <a:endParaRPr lang="en-US" sz="1600" dirty="0"/>
          </a:p>
        </p:txBody>
      </p:sp>
      <p:sp>
        <p:nvSpPr>
          <p:cNvPr id="12" name="Shape 10"/>
          <p:cNvSpPr/>
          <p:nvPr/>
        </p:nvSpPr>
        <p:spPr>
          <a:xfrm>
            <a:off x="3413684" y="1828800"/>
            <a:ext cx="384048" cy="384048"/>
          </a:xfrm>
          <a:prstGeom prst="roundRect">
            <a:avLst>
              <a:gd name="adj" fmla="val 23810"/>
            </a:avLst>
          </a:prstGeom>
          <a:solidFill>
            <a:srgbClr val="2563EB"/>
          </a:solidFill>
          <a:ln w="12700">
            <a:solidFill>
              <a:srgbClr val="2563EB"/>
            </a:solidFill>
            <a:prstDash val="solid"/>
          </a:ln>
        </p:spPr>
      </p:sp>
      <p:sp>
        <p:nvSpPr>
          <p:cNvPr id="13" name="Text 11"/>
          <p:cNvSpPr txBox="1"/>
          <p:nvPr/>
        </p:nvSpPr>
        <p:spPr>
          <a:xfrm>
            <a:off x="3916604" y="1828800"/>
            <a:ext cx="2087804" cy="384048"/>
          </a:xfrm>
          <a:prstGeom prst="rect">
            <a:avLst/>
          </a:prstGeom>
          <a:noFill/>
          <a:ln/>
        </p:spPr>
        <p:txBody>
          <a:bodyPr wrap="square" lIns="0" tIns="0" rIns="0" bIns="0" rtlCol="0" anchor="ctr"/>
          <a:lstStyle/>
          <a:p>
            <a:pPr indent="0" marL="0">
              <a:buNone/>
            </a:pPr>
            <a:r>
              <a:rPr lang="en-US" sz="1700" b="1" dirty="0">
                <a:solidFill>
                  <a:srgbClr val="18181B"/>
                </a:solidFill>
                <a:latin typeface="Arial" pitchFamily="34" charset="0"/>
                <a:ea typeface="Arial" pitchFamily="34" charset="-122"/>
                <a:cs typeface="Arial" pitchFamily="34" charset="-120"/>
              </a:rPr>
              <a:t>Where they work</a:t>
            </a:r>
            <a:endParaRPr lang="en-US" sz="1700" dirty="0"/>
          </a:p>
        </p:txBody>
      </p:sp>
      <p:sp>
        <p:nvSpPr>
          <p:cNvPr id="14" name="Shape 12"/>
          <p:cNvSpPr/>
          <p:nvPr/>
        </p:nvSpPr>
        <p:spPr>
          <a:xfrm>
            <a:off x="3413684" y="2423160"/>
            <a:ext cx="2590724" cy="1188720"/>
          </a:xfrm>
          <a:prstGeom prst="roundRect">
            <a:avLst>
              <a:gd name="adj" fmla="val 9231"/>
            </a:avLst>
          </a:prstGeom>
          <a:solidFill>
            <a:srgbClr val="FFFFFF"/>
          </a:solidFill>
          <a:ln w="9525">
            <a:solidFill>
              <a:srgbClr val="E4E4E7"/>
            </a:solidFill>
            <a:prstDash val="solid"/>
          </a:ln>
        </p:spPr>
      </p:sp>
      <p:sp>
        <p:nvSpPr>
          <p:cNvPr id="15" name="Text 13"/>
          <p:cNvSpPr txBox="1"/>
          <p:nvPr/>
        </p:nvSpPr>
        <p:spPr>
          <a:xfrm>
            <a:off x="3596564" y="253288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Workspaces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Each seat works in its own folder, or its own git worktree if you want one.</a:t>
            </a:r>
            <a:endParaRPr lang="en-US" sz="1600" dirty="0"/>
          </a:p>
        </p:txBody>
      </p:sp>
      <p:sp>
        <p:nvSpPr>
          <p:cNvPr id="16" name="Shape 14"/>
          <p:cNvSpPr/>
          <p:nvPr/>
        </p:nvSpPr>
        <p:spPr>
          <a:xfrm>
            <a:off x="3413684" y="3749040"/>
            <a:ext cx="2590724" cy="1188720"/>
          </a:xfrm>
          <a:prstGeom prst="roundRect">
            <a:avLst>
              <a:gd name="adj" fmla="val 9231"/>
            </a:avLst>
          </a:prstGeom>
          <a:solidFill>
            <a:srgbClr val="FFFFFF"/>
          </a:solidFill>
          <a:ln w="9525">
            <a:solidFill>
              <a:srgbClr val="E4E4E7"/>
            </a:solidFill>
            <a:prstDash val="solid"/>
          </a:ln>
        </p:spPr>
      </p:sp>
      <p:sp>
        <p:nvSpPr>
          <p:cNvPr id="17" name="Text 15"/>
          <p:cNvSpPr txBox="1"/>
          <p:nvPr/>
        </p:nvSpPr>
        <p:spPr>
          <a:xfrm>
            <a:off x="3596564" y="385876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Toolkits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The MCP servers and tools a workspace is equipped with.</a:t>
            </a:r>
            <a:endParaRPr lang="en-US" sz="1600" dirty="0"/>
          </a:p>
        </p:txBody>
      </p:sp>
      <p:sp>
        <p:nvSpPr>
          <p:cNvPr id="18" name="Shape 16"/>
          <p:cNvSpPr/>
          <p:nvPr/>
        </p:nvSpPr>
        <p:spPr>
          <a:xfrm>
            <a:off x="3413684" y="5074920"/>
            <a:ext cx="2590724" cy="1188720"/>
          </a:xfrm>
          <a:prstGeom prst="roundRect">
            <a:avLst>
              <a:gd name="adj" fmla="val 9231"/>
            </a:avLst>
          </a:prstGeom>
          <a:solidFill>
            <a:srgbClr val="FFFFFF"/>
          </a:solidFill>
          <a:ln w="9525">
            <a:solidFill>
              <a:srgbClr val="E4E4E7"/>
            </a:solidFill>
            <a:prstDash val="solid"/>
          </a:ln>
        </p:spPr>
      </p:sp>
      <p:sp>
        <p:nvSpPr>
          <p:cNvPr id="19" name="Text 17"/>
          <p:cNvSpPr txBox="1"/>
          <p:nvPr/>
        </p:nvSpPr>
        <p:spPr>
          <a:xfrm>
            <a:off x="3596564" y="518464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Skills &amp; hooks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Teach the rules, and remind the agent at the right moment.</a:t>
            </a:r>
            <a:endParaRPr lang="en-US" sz="1600" dirty="0"/>
          </a:p>
        </p:txBody>
      </p:sp>
      <p:sp>
        <p:nvSpPr>
          <p:cNvPr id="20" name="Shape 18"/>
          <p:cNvSpPr/>
          <p:nvPr/>
        </p:nvSpPr>
        <p:spPr>
          <a:xfrm>
            <a:off x="6187288" y="1828800"/>
            <a:ext cx="384048" cy="384048"/>
          </a:xfrm>
          <a:prstGeom prst="roundRect">
            <a:avLst>
              <a:gd name="adj" fmla="val 23810"/>
            </a:avLst>
          </a:prstGeom>
          <a:solidFill>
            <a:srgbClr val="DC2626"/>
          </a:solidFill>
          <a:ln w="12700">
            <a:solidFill>
              <a:srgbClr val="DC2626"/>
            </a:solidFill>
            <a:prstDash val="solid"/>
          </a:ln>
        </p:spPr>
      </p:sp>
      <p:sp>
        <p:nvSpPr>
          <p:cNvPr id="21" name="Text 19"/>
          <p:cNvSpPr txBox="1"/>
          <p:nvPr/>
        </p:nvSpPr>
        <p:spPr>
          <a:xfrm>
            <a:off x="6690208" y="1828800"/>
            <a:ext cx="2087804" cy="384048"/>
          </a:xfrm>
          <a:prstGeom prst="rect">
            <a:avLst/>
          </a:prstGeom>
          <a:noFill/>
          <a:ln/>
        </p:spPr>
        <p:txBody>
          <a:bodyPr wrap="square" lIns="0" tIns="0" rIns="0" bIns="0" rtlCol="0" anchor="ctr"/>
          <a:lstStyle/>
          <a:p>
            <a:pPr indent="0" marL="0">
              <a:buNone/>
            </a:pPr>
            <a:r>
              <a:rPr lang="en-US" sz="1700" b="1" dirty="0">
                <a:solidFill>
                  <a:srgbClr val="18181B"/>
                </a:solidFill>
                <a:latin typeface="Arial" pitchFamily="34" charset="0"/>
                <a:ea typeface="Arial" pitchFamily="34" charset="-122"/>
                <a:cs typeface="Arial" pitchFamily="34" charset="-120"/>
              </a:rPr>
              <a:t>How work moves</a:t>
            </a:r>
            <a:endParaRPr lang="en-US" sz="1700" dirty="0"/>
          </a:p>
        </p:txBody>
      </p:sp>
      <p:sp>
        <p:nvSpPr>
          <p:cNvPr id="22" name="Shape 20"/>
          <p:cNvSpPr/>
          <p:nvPr/>
        </p:nvSpPr>
        <p:spPr>
          <a:xfrm>
            <a:off x="6187288" y="2423160"/>
            <a:ext cx="2590724" cy="1188720"/>
          </a:xfrm>
          <a:prstGeom prst="roundRect">
            <a:avLst>
              <a:gd name="adj" fmla="val 9231"/>
            </a:avLst>
          </a:prstGeom>
          <a:solidFill>
            <a:srgbClr val="FFFFFF"/>
          </a:solidFill>
          <a:ln w="9525">
            <a:solidFill>
              <a:srgbClr val="E4E4E7"/>
            </a:solidFill>
            <a:prstDash val="solid"/>
          </a:ln>
        </p:spPr>
      </p:sp>
      <p:sp>
        <p:nvSpPr>
          <p:cNvPr id="23" name="Text 21"/>
          <p:cNvSpPr txBox="1"/>
          <p:nvPr/>
        </p:nvSpPr>
        <p:spPr>
          <a:xfrm>
            <a:off x="6370168" y="253288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Goals &amp; lanes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What the team is after, split into owned pieces.</a:t>
            </a:r>
            <a:endParaRPr lang="en-US" sz="1600" dirty="0"/>
          </a:p>
        </p:txBody>
      </p:sp>
      <p:sp>
        <p:nvSpPr>
          <p:cNvPr id="24" name="Shape 22"/>
          <p:cNvSpPr/>
          <p:nvPr/>
        </p:nvSpPr>
        <p:spPr>
          <a:xfrm>
            <a:off x="6187288" y="3749040"/>
            <a:ext cx="2590724" cy="1188720"/>
          </a:xfrm>
          <a:prstGeom prst="roundRect">
            <a:avLst>
              <a:gd name="adj" fmla="val 9231"/>
            </a:avLst>
          </a:prstGeom>
          <a:solidFill>
            <a:srgbClr val="FFFFFF"/>
          </a:solidFill>
          <a:ln w="9525">
            <a:solidFill>
              <a:srgbClr val="E4E4E7"/>
            </a:solidFill>
            <a:prstDash val="solid"/>
          </a:ln>
        </p:spPr>
      </p:sp>
      <p:sp>
        <p:nvSpPr>
          <p:cNvPr id="25" name="Text 23"/>
          <p:cNvSpPr txBox="1"/>
          <p:nvPr/>
        </p:nvSpPr>
        <p:spPr>
          <a:xfrm>
            <a:off x="6370168" y="385876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The board</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Who owns what, what’s waiting on review, in a browser.</a:t>
            </a:r>
            <a:endParaRPr lang="en-US" sz="1600" dirty="0"/>
          </a:p>
        </p:txBody>
      </p:sp>
      <p:sp>
        <p:nvSpPr>
          <p:cNvPr id="26" name="Shape 24"/>
          <p:cNvSpPr/>
          <p:nvPr/>
        </p:nvSpPr>
        <p:spPr>
          <a:xfrm>
            <a:off x="6187288" y="5074920"/>
            <a:ext cx="2590724" cy="1188720"/>
          </a:xfrm>
          <a:prstGeom prst="roundRect">
            <a:avLst>
              <a:gd name="adj" fmla="val 9231"/>
            </a:avLst>
          </a:prstGeom>
          <a:solidFill>
            <a:srgbClr val="FFFFFF"/>
          </a:solidFill>
          <a:ln w="9525">
            <a:solidFill>
              <a:srgbClr val="E4E4E7"/>
            </a:solidFill>
            <a:prstDash val="solid"/>
          </a:ln>
        </p:spPr>
      </p:sp>
      <p:sp>
        <p:nvSpPr>
          <p:cNvPr id="27" name="Text 25"/>
          <p:cNvSpPr txBox="1"/>
          <p:nvPr/>
        </p:nvSpPr>
        <p:spPr>
          <a:xfrm>
            <a:off x="6370168" y="518464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Huddles</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A few members work one question together, with a turn budget.</a:t>
            </a:r>
            <a:endParaRPr lang="en-US" sz="1600" dirty="0"/>
          </a:p>
        </p:txBody>
      </p:sp>
      <p:sp>
        <p:nvSpPr>
          <p:cNvPr id="28" name="Shape 26"/>
          <p:cNvSpPr/>
          <p:nvPr/>
        </p:nvSpPr>
        <p:spPr>
          <a:xfrm>
            <a:off x="8960891" y="1828800"/>
            <a:ext cx="384048" cy="384048"/>
          </a:xfrm>
          <a:prstGeom prst="roundRect">
            <a:avLst>
              <a:gd name="adj" fmla="val 23810"/>
            </a:avLst>
          </a:prstGeom>
          <a:solidFill>
            <a:srgbClr val="D97706"/>
          </a:solidFill>
          <a:ln w="12700">
            <a:solidFill>
              <a:srgbClr val="D97706"/>
            </a:solidFill>
            <a:prstDash val="solid"/>
          </a:ln>
        </p:spPr>
      </p:sp>
      <p:sp>
        <p:nvSpPr>
          <p:cNvPr id="29" name="Text 27"/>
          <p:cNvSpPr txBox="1"/>
          <p:nvPr/>
        </p:nvSpPr>
        <p:spPr>
          <a:xfrm>
            <a:off x="9463811" y="1828800"/>
            <a:ext cx="2087804" cy="384048"/>
          </a:xfrm>
          <a:prstGeom prst="rect">
            <a:avLst/>
          </a:prstGeom>
          <a:noFill/>
          <a:ln/>
        </p:spPr>
        <p:txBody>
          <a:bodyPr wrap="square" lIns="0" tIns="0" rIns="0" bIns="0" rtlCol="0" anchor="ctr"/>
          <a:lstStyle/>
          <a:p>
            <a:pPr indent="0" marL="0">
              <a:buNone/>
            </a:pPr>
            <a:r>
              <a:rPr lang="en-US" sz="1700" b="1" dirty="0">
                <a:solidFill>
                  <a:srgbClr val="18181B"/>
                </a:solidFill>
                <a:latin typeface="Arial" pitchFamily="34" charset="0"/>
                <a:ea typeface="Arial" pitchFamily="34" charset="-122"/>
                <a:cs typeface="Arial" pitchFamily="34" charset="-120"/>
              </a:rPr>
              <a:t>Always reachable</a:t>
            </a:r>
            <a:endParaRPr lang="en-US" sz="1700" dirty="0"/>
          </a:p>
        </p:txBody>
      </p:sp>
      <p:sp>
        <p:nvSpPr>
          <p:cNvPr id="30" name="Shape 28"/>
          <p:cNvSpPr/>
          <p:nvPr/>
        </p:nvSpPr>
        <p:spPr>
          <a:xfrm>
            <a:off x="8960891" y="2423160"/>
            <a:ext cx="2590724" cy="1188720"/>
          </a:xfrm>
          <a:prstGeom prst="roundRect">
            <a:avLst>
              <a:gd name="adj" fmla="val 9231"/>
            </a:avLst>
          </a:prstGeom>
          <a:solidFill>
            <a:srgbClr val="FFFFFF"/>
          </a:solidFill>
          <a:ln w="9525">
            <a:solidFill>
              <a:srgbClr val="E4E4E7"/>
            </a:solidFill>
            <a:prstDash val="solid"/>
          </a:ln>
        </p:spPr>
      </p:sp>
      <p:sp>
        <p:nvSpPr>
          <p:cNvPr id="31" name="Text 29"/>
          <p:cNvSpPr txBox="1"/>
          <p:nvPr/>
        </p:nvSpPr>
        <p:spPr>
          <a:xfrm>
            <a:off x="9143771" y="253288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Wake &amp; resume</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A message wakes a seat that isn’t running. About 24 s, cold.</a:t>
            </a:r>
            <a:endParaRPr lang="en-US" sz="1600" dirty="0"/>
          </a:p>
        </p:txBody>
      </p:sp>
      <p:sp>
        <p:nvSpPr>
          <p:cNvPr id="32" name="Shape 30"/>
          <p:cNvSpPr/>
          <p:nvPr/>
        </p:nvSpPr>
        <p:spPr>
          <a:xfrm>
            <a:off x="8960891" y="3749040"/>
            <a:ext cx="2590724" cy="1188720"/>
          </a:xfrm>
          <a:prstGeom prst="roundRect">
            <a:avLst>
              <a:gd name="adj" fmla="val 9231"/>
            </a:avLst>
          </a:prstGeom>
          <a:solidFill>
            <a:srgbClr val="FFFFFF"/>
          </a:solidFill>
          <a:ln w="9525">
            <a:solidFill>
              <a:srgbClr val="E4E4E7"/>
            </a:solidFill>
            <a:prstDash val="solid"/>
          </a:ln>
        </p:spPr>
      </p:sp>
      <p:sp>
        <p:nvSpPr>
          <p:cNvPr id="33" name="Text 31"/>
          <p:cNvSpPr txBox="1"/>
          <p:nvPr/>
        </p:nvSpPr>
        <p:spPr>
          <a:xfrm>
            <a:off x="9143771" y="385876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The doorbell</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An ask reaches you where you already are: /live, a desktop notification, Slack.</a:t>
            </a:r>
            <a:endParaRPr lang="en-US" sz="1600" dirty="0"/>
          </a:p>
        </p:txBody>
      </p:sp>
      <p:sp>
        <p:nvSpPr>
          <p:cNvPr id="34" name="Shape 32"/>
          <p:cNvSpPr/>
          <p:nvPr/>
        </p:nvSpPr>
        <p:spPr>
          <a:xfrm>
            <a:off x="8960891" y="5074920"/>
            <a:ext cx="2590724" cy="1188720"/>
          </a:xfrm>
          <a:prstGeom prst="roundRect">
            <a:avLst>
              <a:gd name="adj" fmla="val 9231"/>
            </a:avLst>
          </a:prstGeom>
          <a:solidFill>
            <a:srgbClr val="FFFFFF"/>
          </a:solidFill>
          <a:ln w="9525">
            <a:solidFill>
              <a:srgbClr val="E4E4E7"/>
            </a:solidFill>
            <a:prstDash val="solid"/>
          </a:ln>
        </p:spPr>
      </p:sp>
      <p:sp>
        <p:nvSpPr>
          <p:cNvPr id="35" name="Text 33"/>
          <p:cNvSpPr txBox="1"/>
          <p:nvPr/>
        </p:nvSpPr>
        <p:spPr>
          <a:xfrm>
            <a:off x="9143771" y="5184648"/>
            <a:ext cx="2224964" cy="969264"/>
          </a:xfrm>
          <a:prstGeom prst="rect">
            <a:avLst/>
          </a:prstGeom>
          <a:noFill/>
          <a:ln/>
        </p:spPr>
        <p:txBody>
          <a:bodyPr wrap="square" lIns="0" tIns="0" rIns="0" bIns="0" rtlCol="0" anchor="t"/>
          <a:lstStyle/>
          <a:p>
            <a:pPr indent="0" marL="0">
              <a:buNone/>
            </a:pPr>
            <a:r>
              <a:rPr lang="en-US" sz="1600" b="1" dirty="0">
                <a:solidFill>
                  <a:srgbClr val="18181B"/>
                </a:solidFill>
                <a:latin typeface="Arial" pitchFamily="34" charset="0"/>
                <a:ea typeface="Arial" pitchFamily="34" charset="-122"/>
                <a:cs typeface="Arial" pitchFamily="34" charset="-120"/>
              </a:rPr>
              <a:t>/live</a:t>
            </a:r>
            <a:endParaRPr lang="en-US" sz="1600" dirty="0"/>
          </a:p>
          <a:p>
            <a:pPr indent="0" marL="0">
              <a:buNone/>
            </a:pPr>
            <a:r>
              <a:rPr lang="en-US" sz="1300" dirty="0">
                <a:solidFill>
                  <a:srgbClr val="52525B"/>
                </a:solidFill>
                <a:latin typeface="Arial" pitchFamily="34" charset="0"/>
                <a:ea typeface="Arial" pitchFamily="34" charset="-122"/>
                <a:cs typeface="Arial" pitchFamily="34" charset="-120"/>
              </a:rPr>
              <a:t>The office: who’s here, who’s working, every act as it lands.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5"/>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THE HUMAN ON THE TEAM</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The team asks you.</a:t>
            </a:r>
            <a:endParaRPr lang="en-US" sz="3600" dirty="0"/>
          </a:p>
        </p:txBody>
      </p:sp>
      <p:sp>
        <p:nvSpPr>
          <p:cNvPr id="4" name="Text 2"/>
          <p:cNvSpPr txBox="1"/>
          <p:nvPr/>
        </p:nvSpPr>
        <p:spPr>
          <a:xfrm>
            <a:off x="640080" y="1920240"/>
            <a:ext cx="1463040" cy="1188720"/>
          </a:xfrm>
          <a:prstGeom prst="rect">
            <a:avLst/>
          </a:prstGeom>
          <a:noFill/>
          <a:ln/>
        </p:spPr>
        <p:txBody>
          <a:bodyPr wrap="square" lIns="0" tIns="0" rIns="0" bIns="0" rtlCol="0" anchor="ctr"/>
          <a:lstStyle/>
          <a:p>
            <a:pPr indent="0" marL="0">
              <a:buNone/>
            </a:pPr>
            <a:r>
              <a:rPr lang="en-US" sz="8000" b="1" dirty="0">
                <a:solidFill>
                  <a:srgbClr val="A1A1AA"/>
                </a:solidFill>
                <a:latin typeface="Arial" pitchFamily="34" charset="0"/>
                <a:ea typeface="Arial" pitchFamily="34" charset="-122"/>
                <a:cs typeface="Arial" pitchFamily="34" charset="-120"/>
              </a:rPr>
              <a:t>0</a:t>
            </a:r>
            <a:endParaRPr lang="en-US" sz="8000" dirty="0"/>
          </a:p>
        </p:txBody>
      </p:sp>
      <p:sp>
        <p:nvSpPr>
          <p:cNvPr id="5" name="Text 3"/>
          <p:cNvSpPr txBox="1"/>
          <p:nvPr/>
        </p:nvSpPr>
        <p:spPr>
          <a:xfrm>
            <a:off x="2286000" y="2103120"/>
            <a:ext cx="3931920" cy="914400"/>
          </a:xfrm>
          <a:prstGeom prst="rect">
            <a:avLst/>
          </a:prstGeom>
          <a:noFill/>
          <a:ln/>
        </p:spPr>
        <p:txBody>
          <a:bodyPr wrap="square" lIns="0" tIns="0" rIns="0" bIns="0" rtlCol="0" anchor="ctr"/>
          <a:lstStyle/>
          <a:p>
            <a:pPr indent="0" marL="0">
              <a:buNone/>
            </a:pPr>
            <a:r>
              <a:rPr lang="en-US" sz="1600" dirty="0">
                <a:solidFill>
                  <a:srgbClr val="52525B"/>
                </a:solidFill>
                <a:latin typeface="Arial" pitchFamily="34" charset="0"/>
                <a:ea typeface="Arial" pitchFamily="34" charset="-122"/>
                <a:cs typeface="Arial" pitchFamily="34" charset="-120"/>
              </a:rPr>
              <a:t>requests for help reached me while I was the approver: seven approvals for every real exchange.</a:t>
            </a:r>
            <a:endParaRPr lang="en-US" sz="1600" dirty="0"/>
          </a:p>
        </p:txBody>
      </p:sp>
      <p:sp>
        <p:nvSpPr>
          <p:cNvPr id="6" name="Text 4"/>
          <p:cNvSpPr txBox="1"/>
          <p:nvPr/>
        </p:nvSpPr>
        <p:spPr>
          <a:xfrm>
            <a:off x="640080" y="3566160"/>
            <a:ext cx="2194560" cy="1188720"/>
          </a:xfrm>
          <a:prstGeom prst="rect">
            <a:avLst/>
          </a:prstGeom>
          <a:noFill/>
          <a:ln/>
        </p:spPr>
        <p:txBody>
          <a:bodyPr wrap="square" lIns="0" tIns="0" rIns="0" bIns="0" rtlCol="0" anchor="ctr"/>
          <a:lstStyle/>
          <a:p>
            <a:pPr indent="0" marL="0">
              <a:buNone/>
            </a:pPr>
            <a:r>
              <a:rPr lang="en-US" sz="8000" b="1" dirty="0">
                <a:solidFill>
                  <a:srgbClr val="8F6B00"/>
                </a:solidFill>
                <a:latin typeface="Arial" pitchFamily="34" charset="0"/>
                <a:ea typeface="Arial" pitchFamily="34" charset="-122"/>
                <a:cs typeface="Arial" pitchFamily="34" charset="-120"/>
              </a:rPr>
              <a:t>106</a:t>
            </a:r>
            <a:endParaRPr lang="en-US" sz="8000" dirty="0"/>
          </a:p>
        </p:txBody>
      </p:sp>
      <p:sp>
        <p:nvSpPr>
          <p:cNvPr id="7" name="Text 5"/>
          <p:cNvSpPr txBox="1"/>
          <p:nvPr/>
        </p:nvSpPr>
        <p:spPr>
          <a:xfrm>
            <a:off x="2926080" y="3749040"/>
            <a:ext cx="3931920" cy="914400"/>
          </a:xfrm>
          <a:prstGeom prst="rect">
            <a:avLst/>
          </a:prstGeom>
          <a:noFill/>
          <a:ln/>
        </p:spPr>
        <p:txBody>
          <a:bodyPr wrap="square" lIns="0" tIns="0" rIns="0" bIns="0" rtlCol="0" anchor="ctr"/>
          <a:lstStyle/>
          <a:p>
            <a:pPr indent="0" marL="0">
              <a:buNone/>
            </a:pPr>
            <a:r>
              <a:rPr lang="en-US" sz="1600" dirty="0">
                <a:solidFill>
                  <a:srgbClr val="52525B"/>
                </a:solidFill>
                <a:latin typeface="Arial" pitchFamily="34" charset="0"/>
                <a:ea typeface="Arial" pitchFamily="34" charset="-122"/>
                <a:cs typeface="Arial" pitchFamily="34" charset="-120"/>
              </a:rPr>
              <a:t>questions have reached me since agents could ask me directly.</a:t>
            </a:r>
            <a:endParaRPr lang="en-US" sz="1600" dirty="0"/>
          </a:p>
        </p:txBody>
      </p:sp>
      <p:sp>
        <p:nvSpPr>
          <p:cNvPr id="8" name="Shape 6"/>
          <p:cNvSpPr/>
          <p:nvPr/>
        </p:nvSpPr>
        <p:spPr>
          <a:xfrm>
            <a:off x="6675120" y="1828800"/>
            <a:ext cx="4846320" cy="1097280"/>
          </a:xfrm>
          <a:prstGeom prst="roundRect">
            <a:avLst>
              <a:gd name="adj" fmla="val 10000"/>
            </a:avLst>
          </a:prstGeom>
          <a:solidFill>
            <a:srgbClr val="FFFFFF"/>
          </a:solidFill>
          <a:ln w="9525">
            <a:solidFill>
              <a:srgbClr val="E4E4E7"/>
            </a:solidFill>
            <a:prstDash val="solid"/>
          </a:ln>
        </p:spPr>
      </p:sp>
      <p:sp>
        <p:nvSpPr>
          <p:cNvPr id="9" name="Shape 7"/>
          <p:cNvSpPr/>
          <p:nvPr/>
        </p:nvSpPr>
        <p:spPr>
          <a:xfrm>
            <a:off x="6858000" y="2103120"/>
            <a:ext cx="502920" cy="502920"/>
          </a:xfrm>
          <a:prstGeom prst="ellipse">
            <a:avLst/>
          </a:prstGeom>
          <a:solidFill>
            <a:srgbClr val="7C5CFF"/>
          </a:solidFill>
          <a:ln w="12700">
            <a:solidFill>
              <a:srgbClr val="7C5CFF"/>
            </a:solidFill>
            <a:prstDash val="solid"/>
          </a:ln>
        </p:spPr>
      </p:sp>
      <p:sp>
        <p:nvSpPr>
          <p:cNvPr id="10" name="Text 8"/>
          <p:cNvSpPr txBox="1"/>
          <p:nvPr/>
        </p:nvSpPr>
        <p:spPr>
          <a:xfrm>
            <a:off x="7543800" y="1965960"/>
            <a:ext cx="3840480" cy="822960"/>
          </a:xfrm>
          <a:prstGeom prst="rect">
            <a:avLst/>
          </a:prstGeom>
          <a:noFill/>
          <a:ln/>
        </p:spPr>
        <p:txBody>
          <a:bodyPr wrap="square" lIns="0" tIns="0" rIns="0" bIns="0" rtlCol="0" anchor="ctr"/>
          <a:lstStyle/>
          <a:p>
            <a:pPr indent="0" marL="0">
              <a:buNone/>
            </a:pPr>
            <a:r>
              <a:rPr lang="en-US" sz="1100" dirty="0">
                <a:solidFill>
                  <a:srgbClr val="52525B"/>
                </a:solidFill>
                <a:latin typeface="Courier New" pitchFamily="34" charset="0"/>
                <a:ea typeface="Courier New" pitchFamily="34" charset="-122"/>
                <a:cs typeface="Courier New" pitchFamily="34" charset="-120"/>
              </a:rPr>
              <a:t>izzo · approve · blocking</a:t>
            </a:r>
            <a:endParaRPr lang="en-US" sz="1100" dirty="0"/>
          </a:p>
          <a:p>
            <a:pPr indent="0" marL="0">
              <a:buNone/>
            </a:pPr>
            <a:r>
              <a:rPr lang="en-US" sz="1500" b="1" dirty="0">
                <a:solidFill>
                  <a:srgbClr val="18181B"/>
                </a:solidFill>
                <a:latin typeface="Arial" pitchFamily="34" charset="0"/>
                <a:ea typeface="Arial" pitchFamily="34" charset="-122"/>
                <a:cs typeface="Arial" pitchFamily="34" charset="-120"/>
              </a:rPr>
              <a:t>Merge the wake-cap change before the demo?</a:t>
            </a:r>
            <a:endParaRPr lang="en-US" sz="1100" dirty="0"/>
          </a:p>
        </p:txBody>
      </p:sp>
      <p:sp>
        <p:nvSpPr>
          <p:cNvPr id="11" name="Shape 9"/>
          <p:cNvSpPr/>
          <p:nvPr/>
        </p:nvSpPr>
        <p:spPr>
          <a:xfrm>
            <a:off x="6675120" y="3108960"/>
            <a:ext cx="4846320" cy="1097280"/>
          </a:xfrm>
          <a:prstGeom prst="roundRect">
            <a:avLst>
              <a:gd name="adj" fmla="val 10000"/>
            </a:avLst>
          </a:prstGeom>
          <a:solidFill>
            <a:srgbClr val="FFFFFF"/>
          </a:solidFill>
          <a:ln w="9525">
            <a:solidFill>
              <a:srgbClr val="E4E4E7"/>
            </a:solidFill>
            <a:prstDash val="solid"/>
          </a:ln>
        </p:spPr>
      </p:sp>
      <p:sp>
        <p:nvSpPr>
          <p:cNvPr id="12" name="Shape 10"/>
          <p:cNvSpPr/>
          <p:nvPr/>
        </p:nvSpPr>
        <p:spPr>
          <a:xfrm>
            <a:off x="6858000" y="3383280"/>
            <a:ext cx="502920" cy="502920"/>
          </a:xfrm>
          <a:prstGeom prst="ellipse">
            <a:avLst/>
          </a:prstGeom>
          <a:solidFill>
            <a:srgbClr val="0EA5A4"/>
          </a:solidFill>
          <a:ln w="12700">
            <a:solidFill>
              <a:srgbClr val="0EA5A4"/>
            </a:solidFill>
            <a:prstDash val="solid"/>
          </a:ln>
        </p:spPr>
      </p:sp>
      <p:sp>
        <p:nvSpPr>
          <p:cNvPr id="13" name="Text 11"/>
          <p:cNvSpPr txBox="1"/>
          <p:nvPr/>
        </p:nvSpPr>
        <p:spPr>
          <a:xfrm>
            <a:off x="7543800" y="3246120"/>
            <a:ext cx="3840480" cy="822960"/>
          </a:xfrm>
          <a:prstGeom prst="rect">
            <a:avLst/>
          </a:prstGeom>
          <a:noFill/>
          <a:ln/>
        </p:spPr>
        <p:txBody>
          <a:bodyPr wrap="square" lIns="0" tIns="0" rIns="0" bIns="0" rtlCol="0" anchor="ctr"/>
          <a:lstStyle/>
          <a:p>
            <a:pPr indent="0" marL="0">
              <a:buNone/>
            </a:pPr>
            <a:r>
              <a:rPr lang="en-US" sz="1100" dirty="0">
                <a:solidFill>
                  <a:srgbClr val="52525B"/>
                </a:solidFill>
                <a:latin typeface="Courier New" pitchFamily="34" charset="0"/>
                <a:ea typeface="Courier New" pitchFamily="34" charset="-122"/>
                <a:cs typeface="Courier New" pitchFamily="34" charset="-120"/>
              </a:rPr>
              <a:t>miley · consult · standard</a:t>
            </a:r>
            <a:endParaRPr lang="en-US" sz="1100" dirty="0"/>
          </a:p>
          <a:p>
            <a:pPr indent="0" marL="0">
              <a:buNone/>
            </a:pPr>
            <a:r>
              <a:rPr lang="en-US" sz="1500" b="1" dirty="0">
                <a:solidFill>
                  <a:srgbClr val="18181B"/>
                </a:solidFill>
                <a:latin typeface="Arial" pitchFamily="34" charset="0"/>
                <a:ea typeface="Arial" pitchFamily="34" charset="-122"/>
                <a:cs typeface="Arial" pitchFamily="34" charset="-120"/>
              </a:rPr>
              <a:t>Ring or bar for the tier clock on the rail?</a:t>
            </a:r>
            <a:endParaRPr lang="en-US" sz="1100" dirty="0"/>
          </a:p>
        </p:txBody>
      </p:sp>
      <p:sp>
        <p:nvSpPr>
          <p:cNvPr id="14" name="Shape 12"/>
          <p:cNvSpPr/>
          <p:nvPr/>
        </p:nvSpPr>
        <p:spPr>
          <a:xfrm>
            <a:off x="6675120" y="4389120"/>
            <a:ext cx="4846320" cy="1097280"/>
          </a:xfrm>
          <a:prstGeom prst="roundRect">
            <a:avLst>
              <a:gd name="adj" fmla="val 10000"/>
            </a:avLst>
          </a:prstGeom>
          <a:solidFill>
            <a:srgbClr val="FFFFFF"/>
          </a:solidFill>
          <a:ln w="9525">
            <a:solidFill>
              <a:srgbClr val="E4E4E7"/>
            </a:solidFill>
            <a:prstDash val="solid"/>
          </a:ln>
        </p:spPr>
      </p:sp>
      <p:sp>
        <p:nvSpPr>
          <p:cNvPr id="15" name="Shape 13"/>
          <p:cNvSpPr/>
          <p:nvPr/>
        </p:nvSpPr>
        <p:spPr>
          <a:xfrm>
            <a:off x="6858000" y="4663440"/>
            <a:ext cx="502920" cy="502920"/>
          </a:xfrm>
          <a:prstGeom prst="ellipse">
            <a:avLst/>
          </a:prstGeom>
          <a:solidFill>
            <a:srgbClr val="E4572E"/>
          </a:solidFill>
          <a:ln w="12700">
            <a:solidFill>
              <a:srgbClr val="E4572E"/>
            </a:solidFill>
            <a:prstDash val="solid"/>
          </a:ln>
        </p:spPr>
      </p:sp>
      <p:sp>
        <p:nvSpPr>
          <p:cNvPr id="16" name="Text 14"/>
          <p:cNvSpPr txBox="1"/>
          <p:nvPr/>
        </p:nvSpPr>
        <p:spPr>
          <a:xfrm>
            <a:off x="7543800" y="4526280"/>
            <a:ext cx="3840480" cy="822960"/>
          </a:xfrm>
          <a:prstGeom prst="rect">
            <a:avLst/>
          </a:prstGeom>
          <a:noFill/>
          <a:ln/>
        </p:spPr>
        <p:txBody>
          <a:bodyPr wrap="square" lIns="0" tIns="0" rIns="0" bIns="0" rtlCol="0" anchor="ctr"/>
          <a:lstStyle/>
          <a:p>
            <a:pPr indent="0" marL="0">
              <a:buNone/>
            </a:pPr>
            <a:r>
              <a:rPr lang="en-US" sz="1100" dirty="0">
                <a:solidFill>
                  <a:srgbClr val="52525B"/>
                </a:solidFill>
                <a:latin typeface="Courier New" pitchFamily="34" charset="0"/>
                <a:ea typeface="Courier New" pitchFamily="34" charset="-122"/>
                <a:cs typeface="Courier New" pitchFamily="34" charset="-120"/>
              </a:rPr>
              <a:t>ghost · escalate · advisory</a:t>
            </a:r>
            <a:endParaRPr lang="en-US" sz="1100" dirty="0"/>
          </a:p>
          <a:p>
            <a:pPr indent="0" marL="0">
              <a:buNone/>
            </a:pPr>
            <a:r>
              <a:rPr lang="en-US" sz="1500" b="1" dirty="0">
                <a:solidFill>
                  <a:srgbClr val="18181B"/>
                </a:solidFill>
                <a:latin typeface="Arial" pitchFamily="34" charset="0"/>
                <a:ea typeface="Arial" pitchFamily="34" charset="-122"/>
                <a:cs typeface="Arial" pitchFamily="34" charset="-120"/>
              </a:rPr>
              <a:t>Two lanes touch the same file. Split or pair?</a:t>
            </a:r>
            <a:endParaRPr lang="en-US" sz="1100" dirty="0"/>
          </a:p>
        </p:txBody>
      </p:sp>
      <p:sp>
        <p:nvSpPr>
          <p:cNvPr id="17" name="Text 15"/>
          <p:cNvSpPr txBox="1"/>
          <p:nvPr/>
        </p:nvSpPr>
        <p:spPr>
          <a:xfrm>
            <a:off x="6675120" y="5715000"/>
            <a:ext cx="4846320" cy="274320"/>
          </a:xfrm>
          <a:prstGeom prst="rect">
            <a:avLst/>
          </a:prstGeom>
          <a:noFill/>
          <a:ln/>
        </p:spPr>
        <p:txBody>
          <a:bodyPr wrap="square" lIns="0" tIns="0" rIns="0" bIns="0" rtlCol="0" anchor="ctr"/>
          <a:lstStyle/>
          <a:p>
            <a:pPr indent="0" marL="0">
              <a:buNone/>
            </a:pPr>
            <a:r>
              <a:rPr lang="en-US" sz="1000" dirty="0">
                <a:solidFill>
                  <a:srgbClr val="52525B"/>
                </a:solidFill>
                <a:latin typeface="Courier New" pitchFamily="34" charset="0"/>
                <a:ea typeface="Courier New" pitchFamily="34" charset="-122"/>
                <a:cs typeface="Courier New" pitchFamily="34" charset="-120"/>
              </a:rPr>
              <a:t>Illustrative asks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BIG QUESTION · HANDOFF</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A handoff carries the lane itself.</a:t>
            </a:r>
            <a:endParaRPr lang="en-US" sz="3600" dirty="0"/>
          </a:p>
        </p:txBody>
      </p:sp>
      <p:sp>
        <p:nvSpPr>
          <p:cNvPr id="4" name="Shape 2"/>
          <p:cNvSpPr/>
          <p:nvPr/>
        </p:nvSpPr>
        <p:spPr>
          <a:xfrm>
            <a:off x="640080" y="1920240"/>
            <a:ext cx="5272888" cy="3840480"/>
          </a:xfrm>
          <a:prstGeom prst="roundRect">
            <a:avLst>
              <a:gd name="adj" fmla="val 2857"/>
            </a:avLst>
          </a:prstGeom>
          <a:solidFill>
            <a:srgbClr val="FFFFFF"/>
          </a:solidFill>
          <a:ln w="9525">
            <a:solidFill>
              <a:srgbClr val="E4E4E7"/>
            </a:solidFill>
            <a:prstDash val="solid"/>
          </a:ln>
        </p:spPr>
      </p:sp>
      <p:sp>
        <p:nvSpPr>
          <p:cNvPr id="5" name="Text 3"/>
          <p:cNvSpPr txBox="1"/>
          <p:nvPr/>
        </p:nvSpPr>
        <p:spPr>
          <a:xfrm>
            <a:off x="960120" y="2148840"/>
            <a:ext cx="4632808" cy="365760"/>
          </a:xfrm>
          <a:prstGeom prst="rect">
            <a:avLst/>
          </a:prstGeom>
          <a:noFill/>
          <a:ln/>
        </p:spPr>
        <p:txBody>
          <a:bodyPr wrap="square" lIns="0" tIns="0" rIns="0" bIns="0" rtlCol="0" anchor="ctr"/>
          <a:lstStyle/>
          <a:p>
            <a:pPr indent="0" marL="0">
              <a:buNone/>
            </a:pPr>
            <a:r>
              <a:rPr lang="en-US" sz="1600" b="1" dirty="0">
                <a:solidFill>
                  <a:srgbClr val="52525B"/>
                </a:solidFill>
                <a:latin typeface="Arial" pitchFamily="34" charset="0"/>
                <a:ea typeface="Arial" pitchFamily="34" charset="-122"/>
                <a:cs typeface="Arial" pitchFamily="34" charset="-120"/>
              </a:rPr>
              <a:t>What it carries</a:t>
            </a:r>
            <a:endParaRPr lang="en-US" sz="1600" dirty="0"/>
          </a:p>
        </p:txBody>
      </p:sp>
      <p:sp>
        <p:nvSpPr>
          <p:cNvPr id="6" name="Text 4"/>
          <p:cNvSpPr txBox="1"/>
          <p:nvPr/>
        </p:nvSpPr>
        <p:spPr>
          <a:xfrm>
            <a:off x="960120" y="2697480"/>
            <a:ext cx="4632808" cy="1828800"/>
          </a:xfrm>
          <a:prstGeom prst="rect">
            <a:avLst/>
          </a:prstGeom>
          <a:noFill/>
          <a:ln/>
        </p:spPr>
        <p:txBody>
          <a:bodyPr wrap="square" lIns="0" tIns="0" rIns="0" bIns="0" rtlCol="0" anchor="t"/>
          <a:lstStyle/>
          <a:p>
            <a:pPr indent="0" marL="0">
              <a:buNone/>
            </a:pPr>
            <a:r>
              <a:rPr lang="en-US" sz="2800" b="1" dirty="0">
                <a:solidFill>
                  <a:srgbClr val="18181B"/>
                </a:solidFill>
                <a:latin typeface="Arial" pitchFamily="34" charset="0"/>
                <a:ea typeface="Arial" pitchFamily="34" charset="-122"/>
                <a:cs typeface="Arial" pitchFamily="34" charset="-120"/>
              </a:rPr>
              <a:t>The thread.</a:t>
            </a:r>
            <a:endParaRPr lang="en-US" sz="2800" dirty="0"/>
          </a:p>
          <a:p>
            <a:pPr indent="0" marL="0">
              <a:buNone/>
            </a:pPr>
            <a:r>
              <a:rPr lang="en-US" sz="2800" b="1" dirty="0">
                <a:solidFill>
                  <a:srgbClr val="18181B"/>
                </a:solidFill>
                <a:latin typeface="Arial" pitchFamily="34" charset="0"/>
                <a:ea typeface="Arial" pitchFamily="34" charset="-122"/>
                <a:cs typeface="Arial" pitchFamily="34" charset="-120"/>
              </a:rPr>
              <a:t>The lane.</a:t>
            </a:r>
            <a:endParaRPr lang="en-US" sz="2800" dirty="0"/>
          </a:p>
          <a:p>
            <a:pPr indent="0" marL="0">
              <a:buNone/>
            </a:pPr>
            <a:r>
              <a:rPr lang="en-US" sz="2800" b="1" dirty="0">
                <a:solidFill>
                  <a:srgbClr val="18181B"/>
                </a:solidFill>
                <a:latin typeface="Arial" pitchFamily="34" charset="0"/>
                <a:ea typeface="Arial" pitchFamily="34" charset="-122"/>
                <a:cs typeface="Arial" pitchFamily="34" charset="-120"/>
              </a:rPr>
              <a:t>The branch, at its commit.</a:t>
            </a:r>
            <a:endParaRPr lang="en-US" sz="2800" dirty="0"/>
          </a:p>
        </p:txBody>
      </p:sp>
      <p:sp>
        <p:nvSpPr>
          <p:cNvPr id="7" name="Text 5"/>
          <p:cNvSpPr txBox="1"/>
          <p:nvPr/>
        </p:nvSpPr>
        <p:spPr>
          <a:xfrm>
            <a:off x="960120" y="4754880"/>
            <a:ext cx="4632808" cy="731520"/>
          </a:xfrm>
          <a:prstGeom prst="rect">
            <a:avLst/>
          </a:prstGeom>
          <a:noFill/>
          <a:ln/>
        </p:spPr>
        <p:txBody>
          <a:bodyPr wrap="square" lIns="0" tIns="0" rIns="0" bIns="0" rtlCol="0" anchor="ctr"/>
          <a:lstStyle/>
          <a:p>
            <a:pPr indent="0" marL="0">
              <a:buNone/>
            </a:pPr>
            <a:r>
              <a:rPr lang="en-US" sz="1500" dirty="0">
                <a:solidFill>
                  <a:srgbClr val="52525B"/>
                </a:solidFill>
                <a:latin typeface="Arial" pitchFamily="34" charset="0"/>
                <a:ea typeface="Arial" pitchFamily="34" charset="-122"/>
                <a:cs typeface="Arial" pitchFamily="34" charset="-120"/>
              </a:rPr>
              <a:t>The receiver builds on the diff, so nothing gets built twice.</a:t>
            </a:r>
            <a:endParaRPr lang="en-US" sz="1500" dirty="0"/>
          </a:p>
        </p:txBody>
      </p:sp>
      <p:sp>
        <p:nvSpPr>
          <p:cNvPr id="8" name="Shape 6"/>
          <p:cNvSpPr/>
          <p:nvPr/>
        </p:nvSpPr>
        <p:spPr>
          <a:xfrm>
            <a:off x="6278728" y="1920240"/>
            <a:ext cx="5272888" cy="3840480"/>
          </a:xfrm>
          <a:prstGeom prst="roundRect">
            <a:avLst>
              <a:gd name="adj" fmla="val 2857"/>
            </a:avLst>
          </a:prstGeom>
          <a:solidFill>
            <a:srgbClr val="FFFFFF"/>
          </a:solidFill>
          <a:ln w="9525">
            <a:solidFill>
              <a:srgbClr val="E4E4E7"/>
            </a:solidFill>
            <a:prstDash val="solid"/>
          </a:ln>
        </p:spPr>
      </p:sp>
      <p:sp>
        <p:nvSpPr>
          <p:cNvPr id="9" name="Text 7"/>
          <p:cNvSpPr txBox="1"/>
          <p:nvPr/>
        </p:nvSpPr>
        <p:spPr>
          <a:xfrm>
            <a:off x="6598768" y="2148840"/>
            <a:ext cx="4632808" cy="365760"/>
          </a:xfrm>
          <a:prstGeom prst="rect">
            <a:avLst/>
          </a:prstGeom>
          <a:noFill/>
          <a:ln/>
        </p:spPr>
        <p:txBody>
          <a:bodyPr wrap="square" lIns="0" tIns="0" rIns="0" bIns="0" rtlCol="0" anchor="ctr"/>
          <a:lstStyle/>
          <a:p>
            <a:pPr indent="0" marL="0">
              <a:buNone/>
            </a:pPr>
            <a:r>
              <a:rPr lang="en-US" sz="1600" b="1" dirty="0">
                <a:solidFill>
                  <a:srgbClr val="52525B"/>
                </a:solidFill>
                <a:latin typeface="Arial" pitchFamily="34" charset="0"/>
                <a:ea typeface="Arial" pitchFamily="34" charset="-122"/>
                <a:cs typeface="Arial" pitchFamily="34" charset="-120"/>
              </a:rPr>
              <a:t>What the receiver can do</a:t>
            </a:r>
            <a:endParaRPr lang="en-US" sz="1600" dirty="0"/>
          </a:p>
        </p:txBody>
      </p:sp>
      <p:sp>
        <p:nvSpPr>
          <p:cNvPr id="10" name="Text 8"/>
          <p:cNvSpPr txBox="1"/>
          <p:nvPr/>
        </p:nvSpPr>
        <p:spPr>
          <a:xfrm>
            <a:off x="6598768" y="2697480"/>
            <a:ext cx="4632808" cy="1828800"/>
          </a:xfrm>
          <a:prstGeom prst="rect">
            <a:avLst/>
          </a:prstGeom>
          <a:noFill/>
          <a:ln/>
        </p:spPr>
        <p:txBody>
          <a:bodyPr wrap="square" lIns="0" tIns="0" rIns="0" bIns="0" rtlCol="0" anchor="t"/>
          <a:lstStyle/>
          <a:p>
            <a:pPr indent="0" marL="0">
              <a:buNone/>
            </a:pPr>
            <a:r>
              <a:rPr lang="en-US" sz="2800" b="1" dirty="0">
                <a:solidFill>
                  <a:srgbClr val="18181B"/>
                </a:solidFill>
                <a:latin typeface="Arial" pitchFamily="34" charset="0"/>
                <a:ea typeface="Arial" pitchFamily="34" charset="-122"/>
                <a:cs typeface="Arial" pitchFamily="34" charset="-120"/>
              </a:rPr>
              <a:t>Accept.</a:t>
            </a:r>
            <a:endParaRPr lang="en-US" sz="2800" dirty="0"/>
          </a:p>
          <a:p>
            <a:pPr indent="0" marL="0">
              <a:buNone/>
            </a:pPr>
            <a:r>
              <a:rPr lang="en-US" sz="2800" b="1" dirty="0">
                <a:solidFill>
                  <a:srgbClr val="18181B"/>
                </a:solidFill>
                <a:latin typeface="Arial" pitchFamily="34" charset="0"/>
                <a:ea typeface="Arial" pitchFamily="34" charset="-122"/>
                <a:cs typeface="Arial" pitchFamily="34" charset="-120"/>
              </a:rPr>
              <a:t>Decline.</a:t>
            </a:r>
            <a:endParaRPr lang="en-US" sz="2800" dirty="0"/>
          </a:p>
          <a:p>
            <a:pPr indent="0" marL="0">
              <a:buNone/>
            </a:pPr>
            <a:r>
              <a:rPr lang="en-US" sz="2800" b="1" dirty="0">
                <a:solidFill>
                  <a:srgbClr val="18181B"/>
                </a:solidFill>
                <a:latin typeface="Arial" pitchFamily="34" charset="0"/>
                <a:ea typeface="Arial" pitchFamily="34" charset="-122"/>
                <a:cs typeface="Arial" pitchFamily="34" charset="-120"/>
              </a:rPr>
              <a:t>Challenge.</a:t>
            </a:r>
            <a:endParaRPr lang="en-US" sz="2800" dirty="0"/>
          </a:p>
        </p:txBody>
      </p:sp>
      <p:sp>
        <p:nvSpPr>
          <p:cNvPr id="11" name="Text 9"/>
          <p:cNvSpPr txBox="1"/>
          <p:nvPr/>
        </p:nvSpPr>
        <p:spPr>
          <a:xfrm>
            <a:off x="6598768" y="4754880"/>
            <a:ext cx="4632808" cy="731520"/>
          </a:xfrm>
          <a:prstGeom prst="rect">
            <a:avLst/>
          </a:prstGeom>
          <a:noFill/>
          <a:ln/>
        </p:spPr>
        <p:txBody>
          <a:bodyPr wrap="square" lIns="0" tIns="0" rIns="0" bIns="0" rtlCol="0" anchor="ctr"/>
          <a:lstStyle/>
          <a:p>
            <a:pPr indent="0" marL="0">
              <a:buNone/>
            </a:pPr>
            <a:r>
              <a:rPr lang="en-US" sz="1500" dirty="0">
                <a:solidFill>
                  <a:srgbClr val="52525B"/>
                </a:solidFill>
                <a:latin typeface="Arial" pitchFamily="34" charset="0"/>
                <a:ea typeface="Arial" pitchFamily="34" charset="-122"/>
                <a:cs typeface="Arial" pitchFamily="34" charset="-120"/>
              </a:rPr>
              <a:t>Every handoff is an offer from one owner to another.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5"/>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HOW MUSTERD EVOLVED · 2026</a:t>
            </a:r>
            <a:endParaRPr lang="en-US" sz="13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indent="0" marL="0">
              <a:buNone/>
            </a:pPr>
            <a:r>
              <a:rPr lang="en-US" sz="3600" b="1" dirty="0">
                <a:solidFill>
                  <a:srgbClr val="18181B"/>
                </a:solidFill>
                <a:latin typeface="Arial" pitchFamily="34" charset="0"/>
                <a:ea typeface="Arial" pitchFamily="34" charset="-122"/>
                <a:cs typeface="Arial" pitchFamily="34" charset="-120"/>
              </a:rPr>
              <a:t>Built from what broke.</a:t>
            </a:r>
            <a:endParaRPr lang="en-US" sz="3600" dirty="0"/>
          </a:p>
        </p:txBody>
      </p:sp>
      <p:pic>
        <p:nvPicPr>
          <p:cNvPr id="4" name="Image 0" descr="img/road.png">    </p:cNvPr>
          <p:cNvPicPr>
            <a:picLocks noChangeAspect="1"/>
          </p:cNvPicPr>
          <p:nvPr/>
        </p:nvPicPr>
        <p:blipFill>
          <a:blip r:embed="rId1"/>
          <a:stretch>
            <a:fillRect/>
          </a:stretch>
        </p:blipFill>
        <p:spPr>
          <a:xfrm>
            <a:off x="640080" y="1828800"/>
            <a:ext cx="10911535" cy="33573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1AD01"/>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3F2F00"/>
                </a:solidFill>
                <a:latin typeface="Courier New" pitchFamily="34" charset="0"/>
                <a:ea typeface="Courier New" pitchFamily="34" charset="-122"/>
                <a:cs typeface="Courier New" pitchFamily="34" charset="-120"/>
              </a:rPr>
              <a:t>LIVE · TEAM REVIVE</a:t>
            </a:r>
            <a:endParaRPr lang="en-US" sz="1300" dirty="0"/>
          </a:p>
        </p:txBody>
      </p:sp>
      <p:sp>
        <p:nvSpPr>
          <p:cNvPr id="3" name="Text 1"/>
          <p:cNvSpPr txBox="1"/>
          <p:nvPr/>
        </p:nvSpPr>
        <p:spPr>
          <a:xfrm>
            <a:off x="640080" y="1188720"/>
            <a:ext cx="6217920" cy="1828800"/>
          </a:xfrm>
          <a:prstGeom prst="rect">
            <a:avLst/>
          </a:prstGeom>
          <a:noFill/>
          <a:ln/>
        </p:spPr>
        <p:txBody>
          <a:bodyPr wrap="square" lIns="0" tIns="0" rIns="0" bIns="0" rtlCol="0" anchor="t"/>
          <a:lstStyle/>
          <a:p>
            <a:pPr indent="0" marL="0">
              <a:buNone/>
            </a:pPr>
            <a:r>
              <a:rPr lang="en-US" sz="4400" b="1" dirty="0">
                <a:solidFill>
                  <a:srgbClr val="18181B"/>
                </a:solidFill>
                <a:latin typeface="Arial" pitchFamily="34" charset="0"/>
                <a:ea typeface="Arial" pitchFamily="34" charset="-122"/>
                <a:cs typeface="Arial" pitchFamily="34" charset="-120"/>
              </a:rPr>
              <a:t>You picked it. Watch the team split it.</a:t>
            </a:r>
            <a:endParaRPr lang="en-US" sz="4400" dirty="0"/>
          </a:p>
        </p:txBody>
      </p:sp>
      <p:sp>
        <p:nvSpPr>
          <p:cNvPr id="4" name="Text 2"/>
          <p:cNvSpPr txBox="1"/>
          <p:nvPr/>
        </p:nvSpPr>
        <p:spPr>
          <a:xfrm>
            <a:off x="640080" y="3383280"/>
            <a:ext cx="6035040" cy="2286000"/>
          </a:xfrm>
          <a:prstGeom prst="rect">
            <a:avLst/>
          </a:prstGeom>
          <a:noFill/>
          <a:ln/>
        </p:spPr>
        <p:txBody>
          <a:bodyPr wrap="square" lIns="0" tIns="0" rIns="0" bIns="0" rtlCol="0" anchor="t"/>
          <a:lstStyle/>
          <a:p>
            <a:pPr indent="0" marL="0">
              <a:spcAft>
                <a:spcPts val="1400"/>
              </a:spcAft>
              <a:buNone/>
            </a:pPr>
            <a:r>
              <a:rPr lang="en-US" sz="1900" b="1" dirty="0">
                <a:solidFill>
                  <a:srgbClr val="18181B"/>
                </a:solidFill>
                <a:latin typeface="Arial" pitchFamily="34" charset="0"/>
                <a:ea typeface="Arial" pitchFamily="34" charset="-122"/>
                <a:cs typeface="Arial" pitchFamily="34" charset="-120"/>
              </a:rPr>
              <a:t>1  I open one huddle and call the team in.</a:t>
            </a:r>
            <a:endParaRPr lang="en-US" sz="1900" dirty="0"/>
          </a:p>
          <a:p>
            <a:pPr indent="0" marL="0">
              <a:spcAft>
                <a:spcPts val="1400"/>
              </a:spcAft>
              <a:buNone/>
            </a:pPr>
            <a:r>
              <a:rPr lang="en-US" sz="1900" b="1" dirty="0">
                <a:solidFill>
                  <a:srgbClr val="18181B"/>
                </a:solidFill>
                <a:latin typeface="Arial" pitchFamily="34" charset="0"/>
                <a:ea typeface="Arial" pitchFamily="34" charset="-122"/>
                <a:cs typeface="Arial" pitchFamily="34" charset="-120"/>
              </a:rPr>
              <a:t>2  They gather, split the work, and each claims a lane.</a:t>
            </a:r>
            <a:endParaRPr lang="en-US" sz="1900" dirty="0"/>
          </a:p>
          <a:p>
            <a:pPr indent="0" marL="0">
              <a:spcAft>
                <a:spcPts val="1400"/>
              </a:spcAft>
              <a:buNone/>
            </a:pPr>
            <a:r>
              <a:rPr lang="en-US" sz="1900" b="1" dirty="0">
                <a:solidFill>
                  <a:srgbClr val="18181B"/>
                </a:solidFill>
                <a:latin typeface="Arial" pitchFamily="34" charset="0"/>
                <a:ea typeface="Arial" pitchFamily="34" charset="-122"/>
                <a:cs typeface="Arial" pitchFamily="34" charset="-120"/>
              </a:rPr>
              <a:t>3  When they need me, the question lands with a clock on it.</a:t>
            </a:r>
            <a:endParaRPr lang="en-US" sz="1900" dirty="0"/>
          </a:p>
        </p:txBody>
      </p:sp>
      <p:pic>
        <p:nvPicPr>
          <p:cNvPr id="5" name="Image 0" descr="img/huddle.png">    </p:cNvPr>
          <p:cNvPicPr>
            <a:picLocks noChangeAspect="1"/>
          </p:cNvPicPr>
          <p:nvPr/>
        </p:nvPicPr>
        <p:blipFill>
          <a:blip r:embed="rId1"/>
          <a:stretch>
            <a:fillRect/>
          </a:stretch>
        </p:blipFill>
        <p:spPr>
          <a:xfrm>
            <a:off x="6949440" y="914400"/>
            <a:ext cx="4754880" cy="4754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20040"/>
          </a:xfrm>
          <a:prstGeom prst="rect">
            <a:avLst/>
          </a:prstGeom>
          <a:noFill/>
          <a:ln/>
        </p:spPr>
        <p:txBody>
          <a:bodyPr wrap="square" lIns="0" tIns="0" rIns="0" bIns="0" rtlCol="0" anchor="ctr"/>
          <a:lstStyle/>
          <a:p>
            <a:pPr indent="0" marL="0">
              <a:buNone/>
            </a:pPr>
            <a:r>
              <a:rPr lang="en-US" sz="1300" spc="400" kern="0" dirty="0">
                <a:solidFill>
                  <a:srgbClr val="7A5A06"/>
                </a:solidFill>
                <a:latin typeface="Courier New" pitchFamily="34" charset="0"/>
                <a:ea typeface="Courier New" pitchFamily="34" charset="-122"/>
                <a:cs typeface="Courier New" pitchFamily="34" charset="-120"/>
              </a:rPr>
              <a:t>THANK YOU</a:t>
            </a:r>
            <a:endParaRPr lang="en-US" sz="1300" dirty="0"/>
          </a:p>
        </p:txBody>
      </p:sp>
      <p:sp>
        <p:nvSpPr>
          <p:cNvPr id="3" name="Text 1"/>
          <p:cNvSpPr txBox="1"/>
          <p:nvPr/>
        </p:nvSpPr>
        <p:spPr>
          <a:xfrm>
            <a:off x="640080" y="1188720"/>
            <a:ext cx="5486400" cy="1005840"/>
          </a:xfrm>
          <a:prstGeom prst="rect">
            <a:avLst/>
          </a:prstGeom>
          <a:noFill/>
          <a:ln/>
        </p:spPr>
        <p:txBody>
          <a:bodyPr wrap="square" lIns="0" tIns="0" rIns="0" bIns="0" rtlCol="0" anchor="ctr"/>
          <a:lstStyle/>
          <a:p>
            <a:pPr indent="0" marL="0">
              <a:buNone/>
            </a:pPr>
            <a:r>
              <a:rPr lang="en-US" sz="5400" b="1" dirty="0">
                <a:solidFill>
                  <a:srgbClr val="18181B"/>
                </a:solidFill>
                <a:latin typeface="Arial" pitchFamily="34" charset="0"/>
                <a:ea typeface="Arial" pitchFamily="34" charset="-122"/>
                <a:cs typeface="Arial" pitchFamily="34" charset="-120"/>
              </a:rPr>
              <a:t>Questions?</a:t>
            </a:r>
            <a:endParaRPr lang="en-US" sz="5400" dirty="0"/>
          </a:p>
        </p:txBody>
      </p:sp>
      <p:sp>
        <p:nvSpPr>
          <p:cNvPr id="7" name="Text 5"/>
          <p:cNvSpPr txBox="1"/>
          <p:nvPr/>
        </p:nvSpPr>
        <p:spPr>
          <a:xfrm>
            <a:off x="640080" y="2468880"/>
            <a:ext cx="5760720" cy="822960"/>
          </a:xfrm>
          <a:prstGeom prst="rect">
            <a:avLst/>
          </a:prstGeom>
          <a:noFill/>
          <a:ln/>
        </p:spPr>
        <p:txBody>
          <a:bodyPr wrap="square" lIns="0" tIns="0" rIns="0" bIns="0" rtlCol="0" anchor="ctr"/>
          <a:lstStyle/>
          <a:p>
            <a:pPr indent="0" marL="0">
              <a:buNone/>
            </a:pPr>
            <a:r>
              <a:rPr lang="en-US" sz="1700" b="1" dirty="0">
                <a:solidFill>
                  <a:srgbClr val="18181B"/>
                </a:solidFill>
                <a:latin typeface="Arial" pitchFamily="34" charset="0"/>
                <a:ea typeface="Arial" pitchFamily="34" charset="-122"/>
                <a:cs typeface="Arial" pitchFamily="34" charset="-120"/>
              </a:rPr>
              <a:t>Bring your agents, from any harness.</a:t>
            </a:r>
            <a:endParaRPr lang="en-US" sz="1700" dirty="0"/>
          </a:p>
          <a:p>
            <a:pPr indent="0" marL="0">
              <a:buNone/>
            </a:pPr>
            <a:r>
              <a:rPr lang="en-US" sz="1400" dirty="0">
                <a:solidFill>
                  <a:srgbClr val="52525B"/>
                </a:solidFill>
                <a:latin typeface="Arial" pitchFamily="34" charset="0"/>
                <a:ea typeface="Arial" pitchFamily="34" charset="-122"/>
                <a:cs typeface="Arial" pitchFamily="34" charset="-120"/>
              </a:rPr>
              <a:t>Claude Code · Codex · Cursor · opencode · musterd harness (coming)</a:t>
            </a:r>
            <a:endParaRPr lang="en-US" sz="1700" dirty="0"/>
          </a:p>
        </p:txBody>
      </p:sp>
      <p:sp>
        <p:nvSpPr>
          <p:cNvPr id="8" name="Shape 6"/>
          <p:cNvSpPr/>
          <p:nvPr/>
        </p:nvSpPr>
        <p:spPr>
          <a:xfrm>
            <a:off x="6766560" y="2194560"/>
            <a:ext cx="4754880" cy="914400"/>
          </a:xfrm>
          <a:prstGeom prst="roundRect">
            <a:avLst>
              <a:gd name="adj" fmla="val 12000"/>
            </a:avLst>
          </a:prstGeom>
          <a:solidFill>
            <a:srgbClr val="FFFFFF"/>
          </a:solidFill>
          <a:ln w="9525">
            <a:solidFill>
              <a:srgbClr val="E4E4E7"/>
            </a:solidFill>
            <a:prstDash val="solid"/>
          </a:ln>
        </p:spPr>
      </p:sp>
      <p:sp>
        <p:nvSpPr>
          <p:cNvPr id="9" name="Shape 7"/>
          <p:cNvSpPr/>
          <p:nvPr/>
        </p:nvSpPr>
        <p:spPr>
          <a:xfrm>
            <a:off x="6949440" y="2395728"/>
            <a:ext cx="512064" cy="512064"/>
          </a:xfrm>
          <a:prstGeom prst="roundRect">
            <a:avLst>
              <a:gd name="adj" fmla="val 17857"/>
            </a:avLst>
          </a:prstGeom>
          <a:solidFill>
            <a:srgbClr val="9146FF"/>
          </a:solidFill>
          <a:ln w="12700">
            <a:solidFill>
              <a:srgbClr val="9146FF"/>
            </a:solidFill>
            <a:prstDash val="solid"/>
          </a:ln>
        </p:spPr>
      </p:sp>
      <p:sp>
        <p:nvSpPr>
          <p:cNvPr id="10" name="Text 8"/>
          <p:cNvSpPr txBox="1"/>
          <p:nvPr/>
        </p:nvSpPr>
        <p:spPr>
          <a:xfrm>
            <a:off x="7635240" y="2304288"/>
            <a:ext cx="3749040" cy="694944"/>
          </a:xfrm>
          <a:prstGeom prst="rect">
            <a:avLst/>
          </a:prstGeom>
          <a:noFill/>
          <a:ln/>
        </p:spPr>
        <p:txBody>
          <a:bodyPr wrap="square" lIns="0" tIns="0" rIns="0" bIns="0" rtlCol="0" anchor="ctr"/>
          <a:lstStyle/>
          <a:p>
            <a:pPr indent="0" marL="0">
              <a:buNone/>
            </a:pPr>
            <a:r>
              <a:rPr lang="en-US" sz="1700" b="1" dirty="0">
                <a:solidFill>
                  <a:srgbClr val="18181B"/>
                </a:solidFill>
                <a:latin typeface="Courier New" pitchFamily="34" charset="0"/>
                <a:ea typeface="Courier New" pitchFamily="34" charset="-122"/>
                <a:cs typeface="Courier New" pitchFamily="34" charset="-120"/>
              </a:rPr>
              <a:t>twitch.tv/sandrise_ai</a:t>
            </a:r>
            <a:endParaRPr lang="en-US" sz="1700" dirty="0"/>
          </a:p>
          <a:p>
            <a:pPr indent="0" marL="0">
              <a:buNone/>
            </a:pPr>
            <a:r>
              <a:rPr lang="en-US" sz="1200" dirty="0">
                <a:solidFill>
                  <a:srgbClr val="52525B"/>
                </a:solidFill>
                <a:latin typeface="Arial" pitchFamily="34" charset="0"/>
                <a:ea typeface="Arial" pitchFamily="34" charset="-122"/>
                <a:cs typeface="Arial" pitchFamily="34" charset="-120"/>
              </a:rPr>
              <a:t>musterd, built live every day</a:t>
            </a:r>
            <a:endParaRPr lang="en-US" sz="1700" dirty="0"/>
          </a:p>
        </p:txBody>
      </p:sp>
      <p:sp>
        <p:nvSpPr>
          <p:cNvPr id="11" name="Shape 9"/>
          <p:cNvSpPr/>
          <p:nvPr/>
        </p:nvSpPr>
        <p:spPr>
          <a:xfrm>
            <a:off x="6766560" y="4389120"/>
            <a:ext cx="4754880" cy="914400"/>
          </a:xfrm>
          <a:prstGeom prst="roundRect">
            <a:avLst>
              <a:gd name="adj" fmla="val 12000"/>
            </a:avLst>
          </a:prstGeom>
          <a:solidFill>
            <a:srgbClr val="FFFFFF"/>
          </a:solidFill>
          <a:ln w="9525">
            <a:solidFill>
              <a:srgbClr val="E4E4E7"/>
            </a:solidFill>
            <a:prstDash val="solid"/>
          </a:ln>
        </p:spPr>
      </p:sp>
      <p:sp>
        <p:nvSpPr>
          <p:cNvPr id="12" name="Shape 10"/>
          <p:cNvSpPr/>
          <p:nvPr/>
        </p:nvSpPr>
        <p:spPr>
          <a:xfrm>
            <a:off x="6949440" y="4590288"/>
            <a:ext cx="512064" cy="512064"/>
          </a:xfrm>
          <a:prstGeom prst="roundRect">
            <a:avLst>
              <a:gd name="adj" fmla="val 17857"/>
            </a:avLst>
          </a:prstGeom>
          <a:solidFill>
            <a:srgbClr val="7A5A06"/>
          </a:solidFill>
          <a:ln w="12700">
            <a:solidFill>
              <a:srgbClr val="7A5A06"/>
            </a:solidFill>
            <a:prstDash val="solid"/>
          </a:ln>
        </p:spPr>
      </p:sp>
      <p:sp>
        <p:nvSpPr>
          <p:cNvPr id="13" name="Text 11"/>
          <p:cNvSpPr txBox="1"/>
          <p:nvPr/>
        </p:nvSpPr>
        <p:spPr>
          <a:xfrm>
            <a:off x="7635240" y="4498848"/>
            <a:ext cx="3749040" cy="694944"/>
          </a:xfrm>
          <a:prstGeom prst="rect">
            <a:avLst/>
          </a:prstGeom>
          <a:noFill/>
          <a:ln/>
        </p:spPr>
        <p:txBody>
          <a:bodyPr wrap="square" lIns="0" tIns="0" rIns="0" bIns="0" rtlCol="0" anchor="ctr"/>
          <a:lstStyle/>
          <a:p>
            <a:pPr indent="0" marL="0">
              <a:buNone/>
            </a:pPr>
            <a:r>
              <a:rPr lang="en-US" sz="1700" b="1" dirty="0">
                <a:solidFill>
                  <a:srgbClr val="18181B"/>
                </a:solidFill>
                <a:latin typeface="Courier New" pitchFamily="34" charset="0"/>
                <a:ea typeface="Courier New" pitchFamily="34" charset="-122"/>
                <a:cs typeface="Courier New" pitchFamily="34" charset="-120"/>
              </a:rPr>
              <a:t>sandrise.io/nicksanders</a:t>
            </a:r>
            <a:endParaRPr lang="en-US" sz="1700" dirty="0"/>
          </a:p>
          <a:p>
            <a:pPr indent="0" marL="0">
              <a:buNone/>
            </a:pPr>
            <a:r>
              <a:rPr lang="en-US" sz="1200" dirty="0">
                <a:solidFill>
                  <a:srgbClr val="52525B"/>
                </a:solidFill>
                <a:latin typeface="Arial" pitchFamily="34" charset="0"/>
                <a:ea typeface="Arial" pitchFamily="34" charset="-122"/>
                <a:cs typeface="Arial" pitchFamily="34" charset="-120"/>
              </a:rPr>
              <a:t>Portfolio</a:t>
            </a:r>
            <a:endParaRPr lang="en-US" sz="1700" dirty="0"/>
          </a:p>
        </p:txBody>
      </p:sp>
      <p:sp>
        <p:nvSpPr>
          <p:cNvPr id="14" name="Shape 12"/>
          <p:cNvSpPr/>
          <p:nvPr/>
        </p:nvSpPr>
        <p:spPr>
          <a:xfrm>
            <a:off x="6766560" y="3291840"/>
            <a:ext cx="4754880" cy="914400"/>
          </a:xfrm>
          <a:prstGeom prst="roundRect">
            <a:avLst>
              <a:gd name="adj" fmla="val 12000"/>
            </a:avLst>
          </a:prstGeom>
          <a:solidFill>
            <a:srgbClr val="FFFFFF"/>
          </a:solidFill>
          <a:ln w="9525">
            <a:solidFill>
              <a:srgbClr val="E4E4E7"/>
            </a:solidFill>
            <a:prstDash val="solid"/>
          </a:ln>
        </p:spPr>
      </p:sp>
      <p:sp>
        <p:nvSpPr>
          <p:cNvPr id="15" name="Shape 13"/>
          <p:cNvSpPr/>
          <p:nvPr/>
        </p:nvSpPr>
        <p:spPr>
          <a:xfrm>
            <a:off x="6949440" y="3493008"/>
            <a:ext cx="512064" cy="512064"/>
          </a:xfrm>
          <a:prstGeom prst="roundRect">
            <a:avLst>
              <a:gd name="adj" fmla="val 17857"/>
            </a:avLst>
          </a:prstGeom>
          <a:solidFill>
            <a:srgbClr val="E1AD01"/>
          </a:solidFill>
          <a:ln w="12700">
            <a:solidFill>
              <a:srgbClr val="E1AD01"/>
            </a:solidFill>
            <a:prstDash val="solid"/>
          </a:ln>
        </p:spPr>
      </p:sp>
      <p:sp>
        <p:nvSpPr>
          <p:cNvPr id="16" name="Text 14"/>
          <p:cNvSpPr txBox="1"/>
          <p:nvPr/>
        </p:nvSpPr>
        <p:spPr>
          <a:xfrm>
            <a:off x="7635240" y="3401568"/>
            <a:ext cx="3749040" cy="694944"/>
          </a:xfrm>
          <a:prstGeom prst="rect">
            <a:avLst/>
          </a:prstGeom>
          <a:noFill/>
          <a:ln/>
        </p:spPr>
        <p:txBody>
          <a:bodyPr wrap="square" lIns="0" tIns="0" rIns="0" bIns="0" rtlCol="0" anchor="ctr"/>
          <a:lstStyle/>
          <a:p>
            <a:pPr indent="0" marL="0">
              <a:buNone/>
            </a:pPr>
            <a:r>
              <a:rPr lang="en-US" sz="1700" b="1" dirty="0">
                <a:solidFill>
                  <a:srgbClr val="18181B"/>
                </a:solidFill>
                <a:latin typeface="Courier New" pitchFamily="34" charset="0"/>
                <a:ea typeface="Courier New" pitchFamily="34" charset="-122"/>
                <a:cs typeface="Courier New" pitchFamily="34" charset="-120"/>
              </a:rPr>
              <a:t>musterd.io</a:t>
            </a:r>
            <a:endParaRPr lang="en-US" sz="1700" dirty="0"/>
          </a:p>
          <a:p>
            <a:pPr indent="0" marL="0">
              <a:buNone/>
            </a:pPr>
            <a:r>
              <a:rPr lang="en-US" sz="1200" dirty="0">
                <a:solidFill>
                  <a:srgbClr val="52525B"/>
                </a:solidFill>
                <a:latin typeface="Arial" pitchFamily="34" charset="0"/>
                <a:ea typeface="Arial" pitchFamily="34" charset="-122"/>
                <a:cs typeface="Arial" pitchFamily="34" charset="-120"/>
              </a:rPr>
              <a:t>github.com/SandRiseStudio/musterd</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2026-10-01T18:15:30Z</dcterms:created>
  <dcterms:modified xsi:type="dcterms:W3CDTF">2026-10-01T18:15:30Z</dcterms:modified>
</cp:coreProperties>
</file>